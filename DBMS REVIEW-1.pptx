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69" r:id="rId2"/>
    <p:sldId id="257" r:id="rId3"/>
    <p:sldId id="270" r:id="rId4"/>
    <p:sldId id="258" r:id="rId5"/>
    <p:sldId id="259" r:id="rId6"/>
    <p:sldId id="260" r:id="rId7"/>
    <p:sldId id="261" r:id="rId8"/>
    <p:sldId id="268" r:id="rId9"/>
    <p:sldId id="262" r:id="rId10"/>
    <p:sldId id="267" r:id="rId11"/>
    <p:sldId id="265" r:id="rId12"/>
    <p:sldId id="266" r:id="rId13"/>
    <p:sldId id="27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19A046-60D8-4238-BF51-8C6069F617A3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2C8A66-69BF-4F14-9280-1D46BD9765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51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" name="Google Shape;3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"/>
          <p:cNvSpPr txBox="1"/>
          <p:nvPr/>
        </p:nvSpPr>
        <p:spPr>
          <a:xfrm>
            <a:off x="1040202" y="935443"/>
            <a:ext cx="10135798" cy="369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E-COMMERCE ORDER MANAGEMENT SYSTEM</a:t>
            </a:r>
            <a:endParaRPr sz="2400" b="0" i="0" u="none" strike="noStrike" cap="none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7948677" y="4950233"/>
            <a:ext cx="5509546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1800" dirty="0">
                <a:solidFill>
                  <a:schemeClr val="dk1"/>
                </a:solidFill>
                <a:ea typeface="Times New Roman"/>
                <a:cs typeface="Times New Roman" panose="02020603050405020304" pitchFamily="18" charset="0"/>
                <a:sym typeface="Times New Roman"/>
              </a:rPr>
              <a:t>Under esteemed guidance of</a:t>
            </a:r>
            <a:endParaRPr lang="en-US" sz="1800" dirty="0">
              <a:cs typeface="Times New Roman" panose="02020603050405020304" pitchFamily="18" charset="0"/>
            </a:endParaRPr>
          </a:p>
          <a:p>
            <a:pPr algn="ctr"/>
            <a:r>
              <a:rPr lang="en-US" sz="1800" noProof="1">
                <a:cs typeface="Times New Roman" panose="02020603050405020304" pitchFamily="18" charset="0"/>
              </a:rPr>
              <a:t>      </a:t>
            </a:r>
            <a:r>
              <a:rPr lang="en-US" sz="1800" b="1" noProof="1">
                <a:cs typeface="Times New Roman" panose="02020603050405020304" pitchFamily="18" charset="0"/>
              </a:rPr>
              <a:t>Dr P Kishorekumar</a:t>
            </a:r>
            <a:r>
              <a:rPr lang="en-US" sz="1800" noProof="1">
                <a:cs typeface="Times New Roman" panose="02020603050405020304" pitchFamily="18" charset="0"/>
              </a:rPr>
              <a:t>  </a:t>
            </a:r>
          </a:p>
          <a:p>
            <a:pPr algn="ctr"/>
            <a:r>
              <a:rPr lang="en-US" sz="1800" noProof="1">
                <a:cs typeface="Times New Roman" panose="02020603050405020304" pitchFamily="18" charset="0"/>
              </a:rPr>
              <a:t>        </a:t>
            </a:r>
            <a:r>
              <a:rPr lang="en-US" sz="1800" dirty="0">
                <a:cs typeface="Times New Roman" panose="02020603050405020304" pitchFamily="18" charset="0"/>
              </a:rPr>
              <a:t>Associate Professor </a:t>
            </a:r>
            <a:endParaRPr lang="en-US" dirty="0">
              <a:cs typeface="Times New Roman" panose="02020603050405020304" pitchFamily="18" charset="0"/>
            </a:endParaRPr>
          </a:p>
          <a:p>
            <a:pPr algn="ctr"/>
            <a:r>
              <a:rPr lang="en-US" sz="1800" dirty="0">
                <a:cs typeface="Times New Roman" panose="02020603050405020304" pitchFamily="18" charset="0"/>
              </a:rPr>
              <a:t>         Department of AIML</a:t>
            </a:r>
          </a:p>
          <a:p>
            <a:pPr algn="ctr"/>
            <a:r>
              <a:rPr lang="en-US" b="1" dirty="0">
                <a:cs typeface="Times New Roman" panose="02020603050405020304" pitchFamily="18" charset="0"/>
              </a:rPr>
              <a:t>Aditya University</a:t>
            </a:r>
            <a:r>
              <a:rPr lang="en-US" sz="1800" b="1" dirty="0">
                <a:cs typeface="Times New Roman" panose="02020603050405020304" pitchFamily="18" charset="0"/>
              </a:rPr>
              <a:t> </a:t>
            </a:r>
            <a:endParaRPr sz="1800" b="1" dirty="0">
              <a:solidFill>
                <a:schemeClr val="dk1"/>
              </a:solidFill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40" name="Google Shape;40;p1"/>
          <p:cNvSpPr txBox="1"/>
          <p:nvPr/>
        </p:nvSpPr>
        <p:spPr>
          <a:xfrm>
            <a:off x="2570480" y="1404714"/>
            <a:ext cx="652272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Capstone project review-1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>
              <a:solidFill>
                <a:srgbClr val="C55A1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884784-D49C-3636-BF62-6FCF2283BFA8}"/>
              </a:ext>
            </a:extLst>
          </p:cNvPr>
          <p:cNvSpPr txBox="1"/>
          <p:nvPr/>
        </p:nvSpPr>
        <p:spPr>
          <a:xfrm>
            <a:off x="5216086" y="2647223"/>
            <a:ext cx="1759827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800" b="1" dirty="0">
                <a:solidFill>
                  <a:schemeClr val="dk1"/>
                </a:solidFill>
                <a:ea typeface="Times New Roman"/>
                <a:cs typeface="Times New Roman" panose="02020603050405020304" pitchFamily="18" charset="0"/>
                <a:sym typeface="Times New Roman"/>
              </a:rPr>
              <a:t>Presented by:</a:t>
            </a:r>
            <a:r>
              <a:rPr lang="en-US" sz="1800" dirty="0">
                <a:solidFill>
                  <a:schemeClr val="dk1"/>
                </a:solidFill>
                <a:ea typeface="Times New Roman"/>
                <a:cs typeface="Times New Roman" panose="02020603050405020304" pitchFamily="18" charset="0"/>
                <a:sym typeface="Times New Roman"/>
              </a:rPr>
              <a:t>  </a:t>
            </a:r>
            <a:endParaRPr lang="en-US" sz="1800" dirty="0"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B1276D-B10D-06EA-0875-9796C7A3C6A3}"/>
              </a:ext>
            </a:extLst>
          </p:cNvPr>
          <p:cNvSpPr txBox="1"/>
          <p:nvPr/>
        </p:nvSpPr>
        <p:spPr>
          <a:xfrm>
            <a:off x="7426960" y="4390691"/>
            <a:ext cx="63696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Academic Year: 2026-2027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A0DE6C-75D5-CE56-2D4A-F82EBF84BE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7318" y="196799"/>
            <a:ext cx="4009642" cy="63870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717B36A-E5BC-B8B3-652A-9CD0A0D1968A}"/>
              </a:ext>
            </a:extLst>
          </p:cNvPr>
          <p:cNvSpPr txBox="1"/>
          <p:nvPr/>
        </p:nvSpPr>
        <p:spPr>
          <a:xfrm>
            <a:off x="4451991" y="3376575"/>
            <a:ext cx="32880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25B11AI911-P.CHANDRIKA(AIML)</a:t>
            </a:r>
          </a:p>
          <a:p>
            <a:r>
              <a:rPr lang="en-US" dirty="0"/>
              <a:t>25B11AI332-G.ANVITHA(AIML)</a:t>
            </a:r>
          </a:p>
          <a:p>
            <a:r>
              <a:rPr lang="en-US" dirty="0"/>
              <a:t>25B11AI420-J.TANISHKA(AIML)</a:t>
            </a:r>
          </a:p>
          <a:p>
            <a:r>
              <a:rPr lang="en-US" dirty="0"/>
              <a:t>25B11AIB23-S.SUDHADEVI(AIML)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D4C332-E05F-269D-20DC-8020DDCB7222}"/>
              </a:ext>
            </a:extLst>
          </p:cNvPr>
          <p:cNvSpPr txBox="1"/>
          <p:nvPr/>
        </p:nvSpPr>
        <p:spPr>
          <a:xfrm>
            <a:off x="4795520" y="2051004"/>
            <a:ext cx="2551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BATCH NUMBER:11</a:t>
            </a:r>
            <a:endParaRPr lang="en-IN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8473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04800" y="2197767"/>
            <a:ext cx="4002921" cy="3888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  <a:defRPr sz="2000" b="0">
                <a:solidFill>
                  <a:srgbClr val="232323"/>
                </a:solidFill>
                <a:latin typeface="Aptos"/>
              </a:defRPr>
            </a:pPr>
            <a:r>
              <a:rPr lang="en-US" dirty="0"/>
              <a:t>Introduction</a:t>
            </a: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  <a:defRPr sz="2000" b="0">
                <a:solidFill>
                  <a:srgbClr val="232323"/>
                </a:solidFill>
                <a:latin typeface="Aptos"/>
              </a:defRPr>
            </a:pPr>
            <a:r>
              <a:rPr lang="en-US" dirty="0"/>
              <a:t>Problem statement</a:t>
            </a: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  <a:defRPr sz="2000" b="0">
                <a:solidFill>
                  <a:srgbClr val="232323"/>
                </a:solidFill>
                <a:latin typeface="Aptos"/>
              </a:defRPr>
            </a:pPr>
            <a:r>
              <a:rPr lang="en-US" dirty="0"/>
              <a:t>Objectives</a:t>
            </a: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  <a:defRPr sz="2000" b="0">
                <a:solidFill>
                  <a:srgbClr val="232323"/>
                </a:solidFill>
                <a:latin typeface="Aptos"/>
              </a:defRPr>
            </a:pPr>
            <a:r>
              <a:rPr lang="en-US" dirty="0"/>
              <a:t>System scope</a:t>
            </a: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  <a:defRPr sz="2000" b="0">
                <a:solidFill>
                  <a:srgbClr val="232323"/>
                </a:solidFill>
                <a:latin typeface="Aptos"/>
              </a:defRPr>
            </a:pPr>
            <a:r>
              <a:rPr lang="en-US" dirty="0"/>
              <a:t>Entities and attributes</a:t>
            </a: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  <a:defRPr sz="2000" b="0">
                <a:solidFill>
                  <a:srgbClr val="232323"/>
                </a:solidFill>
                <a:latin typeface="Aptos"/>
              </a:defRPr>
            </a:pPr>
            <a:r>
              <a:rPr lang="en-US" dirty="0"/>
              <a:t>Relationships and Cardinality</a:t>
            </a: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  <a:defRPr sz="2000" b="0">
                <a:solidFill>
                  <a:srgbClr val="232323"/>
                </a:solidFill>
                <a:latin typeface="Aptos"/>
              </a:defRPr>
            </a:pPr>
            <a:r>
              <a:rPr lang="en-US" dirty="0"/>
              <a:t>Relational Database Schema</a:t>
            </a: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  <a:defRPr sz="2000" b="0">
                <a:solidFill>
                  <a:srgbClr val="232323"/>
                </a:solidFill>
                <a:latin typeface="Aptos"/>
              </a:defRPr>
            </a:pPr>
            <a:endParaRPr lang="en-US" dirty="0"/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  <a:defRPr sz="2000" b="0">
                <a:solidFill>
                  <a:srgbClr val="232323"/>
                </a:solidFill>
                <a:latin typeface="Aptos"/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9CBB63-D384-D68B-A1BC-A7C7BFA2C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65" y="32966"/>
            <a:ext cx="1382100" cy="675694"/>
          </a:xfrm>
          <a:prstGeom prst="rect">
            <a:avLst/>
          </a:prstGeom>
        </p:spPr>
      </p:pic>
      <p:grpSp>
        <p:nvGrpSpPr>
          <p:cNvPr id="10" name="object 3">
            <a:extLst>
              <a:ext uri="{FF2B5EF4-FFF2-40B4-BE49-F238E27FC236}">
                <a16:creationId xmlns:a16="http://schemas.microsoft.com/office/drawing/2014/main" id="{42B80A31-D6E1-7268-9833-69D04C076DB7}"/>
              </a:ext>
            </a:extLst>
          </p:cNvPr>
          <p:cNvGrpSpPr/>
          <p:nvPr/>
        </p:nvGrpSpPr>
        <p:grpSpPr>
          <a:xfrm>
            <a:off x="779092" y="843260"/>
            <a:ext cx="3564336" cy="1354507"/>
            <a:chOff x="2648188" y="47148"/>
            <a:chExt cx="5103904" cy="1198311"/>
          </a:xfrm>
        </p:grpSpPr>
        <p:pic>
          <p:nvPicPr>
            <p:cNvPr id="11" name="object 4">
              <a:extLst>
                <a:ext uri="{FF2B5EF4-FFF2-40B4-BE49-F238E27FC236}">
                  <a16:creationId xmlns:a16="http://schemas.microsoft.com/office/drawing/2014/main" id="{11C8D903-1962-FAC6-5081-B3954DBB9A4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12" name="object 5">
              <a:extLst>
                <a:ext uri="{FF2B5EF4-FFF2-40B4-BE49-F238E27FC236}">
                  <a16:creationId xmlns:a16="http://schemas.microsoft.com/office/drawing/2014/main" id="{F58BA2B5-2889-5032-0111-23C12840C11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3" name="object 6">
              <a:extLst>
                <a:ext uri="{FF2B5EF4-FFF2-40B4-BE49-F238E27FC236}">
                  <a16:creationId xmlns:a16="http://schemas.microsoft.com/office/drawing/2014/main" id="{0CDF2BAE-9CFE-BD3C-565F-4424B9062F61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4" name="object 7">
              <a:extLst>
                <a:ext uri="{FF2B5EF4-FFF2-40B4-BE49-F238E27FC236}">
                  <a16:creationId xmlns:a16="http://schemas.microsoft.com/office/drawing/2014/main" id="{6B62DEAC-C362-D393-CE6C-442E74CAC110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3200" dirty="0">
                  <a:solidFill>
                    <a:schemeClr val="bg1"/>
                  </a:solidFill>
                </a:rPr>
                <a:t>Outline</a:t>
              </a:r>
              <a:endParaRPr sz="32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D1B83394-03D5-D4C4-D779-5AE85D7152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5260" y="32966"/>
            <a:ext cx="7996740" cy="68250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25807-5063-A141-C2DC-42C5EEAD6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932B8-75D3-49C9-8235-05C96808CDCC}"/>
              </a:ext>
            </a:extLst>
          </p:cNvPr>
          <p:cNvSpPr txBox="1"/>
          <p:nvPr/>
        </p:nvSpPr>
        <p:spPr>
          <a:xfrm>
            <a:off x="2428569" y="245806"/>
            <a:ext cx="71677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000" b="0">
                <a:solidFill>
                  <a:srgbClr val="232323"/>
                </a:solidFill>
                <a:latin typeface="Aptos"/>
              </a:defRPr>
            </a:pPr>
            <a:r>
              <a:rPr lang="en-US" sz="4000" dirty="0"/>
              <a:t>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3A4725-8AA5-FBB1-63F5-84F14C74CB07}"/>
              </a:ext>
            </a:extLst>
          </p:cNvPr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B96DB2-F402-4132-FDC5-A9C577F53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65" y="68826"/>
            <a:ext cx="1261991" cy="6169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F14468B-B95B-A724-4F26-E8A09828FA20}"/>
              </a:ext>
            </a:extLst>
          </p:cNvPr>
          <p:cNvSpPr txBox="1"/>
          <p:nvPr/>
        </p:nvSpPr>
        <p:spPr>
          <a:xfrm>
            <a:off x="511277" y="1533832"/>
            <a:ext cx="11198942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2400" b="1" dirty="0"/>
              <a:t>E-Commerce Order Management System</a:t>
            </a:r>
            <a:r>
              <a:rPr lang="en-IN" sz="2400" dirty="0"/>
              <a:t> is a database-based system designed to manage online shopping orders efficiently.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2400" dirty="0"/>
              <a:t>It stores and organizes information about </a:t>
            </a:r>
            <a:r>
              <a:rPr lang="en-IN" sz="2400" b="1" dirty="0"/>
              <a:t>customers, products, orders, payments, and deliveries</a:t>
            </a:r>
            <a:r>
              <a:rPr lang="en-IN" sz="2400" dirty="0"/>
              <a:t>.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2400" dirty="0"/>
              <a:t>It provides a structured way to manage the </a:t>
            </a:r>
            <a:r>
              <a:rPr lang="en-IN" sz="2400" b="1" dirty="0"/>
              <a:t>complete order process</a:t>
            </a:r>
            <a:r>
              <a:rPr lang="en-IN" sz="2400" dirty="0"/>
              <a:t>, from placing an order to final delivery.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2400" dirty="0"/>
              <a:t>It helps maintain </a:t>
            </a:r>
            <a:r>
              <a:rPr lang="en-IN" sz="2400" b="1" dirty="0"/>
              <a:t>accurate and consistent</a:t>
            </a:r>
            <a:r>
              <a:rPr lang="en-IN" sz="2400" dirty="0"/>
              <a:t> order-related information.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2400" dirty="0"/>
              <a:t>It reduces </a:t>
            </a:r>
            <a:r>
              <a:rPr lang="en-IN" sz="2400" b="1" dirty="0"/>
              <a:t>manual work</a:t>
            </a:r>
            <a:r>
              <a:rPr lang="en-IN" sz="2400" dirty="0"/>
              <a:t> and avoids duplication of customer and order records.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2400" dirty="0"/>
              <a:t>It organizes e-commerce data using </a:t>
            </a:r>
            <a:r>
              <a:rPr lang="en-IN" sz="2400" b="1" dirty="0"/>
              <a:t>well-defined entities and relationships</a:t>
            </a:r>
            <a:r>
              <a:rPr lang="en-IN" sz="2400" dirty="0"/>
              <a:t>.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2400" dirty="0"/>
              <a:t>It helps track </a:t>
            </a:r>
            <a:r>
              <a:rPr lang="en-IN" sz="2400" b="1" dirty="0"/>
              <a:t>product details, customer orders, payment information, and delivery status</a:t>
            </a:r>
            <a:r>
              <a:rPr lang="en-IN" sz="2400" dirty="0"/>
              <a:t>.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2400" dirty="0"/>
              <a:t>The project mainly focuses on </a:t>
            </a:r>
            <a:r>
              <a:rPr lang="en-IN" sz="2400" b="1" dirty="0"/>
              <a:t>database design for Review–I</a:t>
            </a:r>
            <a:r>
              <a:rPr lang="en-IN" sz="2400" dirty="0"/>
              <a:t>, while implementation can be carried out in the next review.</a:t>
            </a:r>
          </a:p>
          <a:p>
            <a:endParaRPr lang="en-IN" sz="2000" dirty="0"/>
          </a:p>
        </p:txBody>
      </p:sp>
      <p:grpSp>
        <p:nvGrpSpPr>
          <p:cNvPr id="9" name="object 3">
            <a:extLst>
              <a:ext uri="{FF2B5EF4-FFF2-40B4-BE49-F238E27FC236}">
                <a16:creationId xmlns:a16="http://schemas.microsoft.com/office/drawing/2014/main" id="{D1A5431C-B646-5C11-CD4E-4CF19E76D535}"/>
              </a:ext>
            </a:extLst>
          </p:cNvPr>
          <p:cNvGrpSpPr/>
          <p:nvPr/>
        </p:nvGrpSpPr>
        <p:grpSpPr>
          <a:xfrm>
            <a:off x="3152052" y="109504"/>
            <a:ext cx="5334000" cy="1198311"/>
            <a:chOff x="2648188" y="47148"/>
            <a:chExt cx="5103904" cy="1198311"/>
          </a:xfrm>
        </p:grpSpPr>
        <p:pic>
          <p:nvPicPr>
            <p:cNvPr id="10" name="object 4">
              <a:extLst>
                <a:ext uri="{FF2B5EF4-FFF2-40B4-BE49-F238E27FC236}">
                  <a16:creationId xmlns:a16="http://schemas.microsoft.com/office/drawing/2014/main" id="{54BE813C-CF39-D5AD-A57E-619B357A7D2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11" name="object 5">
              <a:extLst>
                <a:ext uri="{FF2B5EF4-FFF2-40B4-BE49-F238E27FC236}">
                  <a16:creationId xmlns:a16="http://schemas.microsoft.com/office/drawing/2014/main" id="{3BA84C8F-58D0-3201-3CCC-6700E07F964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2" name="object 6">
              <a:extLst>
                <a:ext uri="{FF2B5EF4-FFF2-40B4-BE49-F238E27FC236}">
                  <a16:creationId xmlns:a16="http://schemas.microsoft.com/office/drawing/2014/main" id="{97DEA9F0-D970-1115-F4F7-8A9288502DF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3" name="object 7">
              <a:extLst>
                <a:ext uri="{FF2B5EF4-FFF2-40B4-BE49-F238E27FC236}">
                  <a16:creationId xmlns:a16="http://schemas.microsoft.com/office/drawing/2014/main" id="{A721DB57-2974-D1F3-9F52-21AFFA75341A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3200" dirty="0">
                  <a:solidFill>
                    <a:schemeClr val="bg1"/>
                  </a:solidFill>
                </a:rPr>
                <a:t>INTRODUCTION</a:t>
              </a:r>
              <a:endParaRPr sz="32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4928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2400" dirty="0"/>
              <a:t>  E-commerce platforms handle a </a:t>
            </a:r>
            <a:r>
              <a:rPr lang="en-IN" sz="2400" b="1" dirty="0"/>
              <a:t>large number of customers, products, and        orders</a:t>
            </a:r>
            <a:r>
              <a:rPr lang="en-IN" sz="2400" dirty="0"/>
              <a:t> every day.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2400" dirty="0"/>
              <a:t>   Poorly structured record management can cause </a:t>
            </a:r>
            <a:r>
              <a:rPr lang="en-IN" sz="2400" b="1" dirty="0"/>
              <a:t>duplicate data and incorrect order details</a:t>
            </a:r>
            <a:r>
              <a:rPr lang="en-IN" sz="2400" dirty="0"/>
              <a:t>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2400" dirty="0"/>
              <a:t>   Separately maintained customer, product, payment, and delivery records make </a:t>
            </a:r>
            <a:r>
              <a:rPr lang="en-IN" sz="2400" b="1" dirty="0"/>
              <a:t>order management difficult</a:t>
            </a:r>
            <a:r>
              <a:rPr lang="en-IN" sz="2400" dirty="0"/>
              <a:t>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2400" dirty="0"/>
              <a:t>   Lack of proper relationships between records makes </a:t>
            </a:r>
            <a:r>
              <a:rPr lang="en-IN" sz="2400" b="1" dirty="0"/>
              <a:t>complete order information difficult to retrieve</a:t>
            </a:r>
            <a:r>
              <a:rPr lang="en-IN" sz="2400" dirty="0"/>
              <a:t>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2400" dirty="0"/>
              <a:t>   The proposed system creates a </a:t>
            </a:r>
            <a:r>
              <a:rPr lang="en-IN" sz="2400" b="1" dirty="0"/>
              <a:t>centralized database</a:t>
            </a:r>
            <a:r>
              <a:rPr lang="en-IN" sz="2400" dirty="0"/>
              <a:t> connecting customers, products, orders, payments, and deliveries.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2400" dirty="0"/>
              <a:t>   The system aims to maintain </a:t>
            </a:r>
            <a:r>
              <a:rPr lang="en-IN" sz="2400" b="1" dirty="0"/>
              <a:t>accurate, consistent, and easily accessible order information</a:t>
            </a:r>
            <a:r>
              <a:rPr lang="en-IN" sz="2400" dirty="0"/>
              <a:t> throughout the order lifecycle. 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  <a:latin typeface="Aptos"/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3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29D8B4-1FF2-5DD2-AF41-7EB980E6E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53" y="206680"/>
            <a:ext cx="1396180" cy="682578"/>
          </a:xfrm>
          <a:prstGeom prst="rect">
            <a:avLst/>
          </a:prstGeom>
        </p:spPr>
      </p:pic>
      <p:grpSp>
        <p:nvGrpSpPr>
          <p:cNvPr id="9" name="object 3">
            <a:extLst>
              <a:ext uri="{FF2B5EF4-FFF2-40B4-BE49-F238E27FC236}">
                <a16:creationId xmlns:a16="http://schemas.microsoft.com/office/drawing/2014/main" id="{33227EA8-868D-1A1D-D243-D75C57D32A66}"/>
              </a:ext>
            </a:extLst>
          </p:cNvPr>
          <p:cNvGrpSpPr/>
          <p:nvPr/>
        </p:nvGrpSpPr>
        <p:grpSpPr>
          <a:xfrm>
            <a:off x="3152052" y="109504"/>
            <a:ext cx="5334000" cy="1198311"/>
            <a:chOff x="2648188" y="47148"/>
            <a:chExt cx="5103904" cy="1198311"/>
          </a:xfrm>
        </p:grpSpPr>
        <p:pic>
          <p:nvPicPr>
            <p:cNvPr id="10" name="object 4">
              <a:extLst>
                <a:ext uri="{FF2B5EF4-FFF2-40B4-BE49-F238E27FC236}">
                  <a16:creationId xmlns:a16="http://schemas.microsoft.com/office/drawing/2014/main" id="{1D1A26A8-3D6D-2B8C-2672-7E19BFE1E5E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11" name="object 5">
              <a:extLst>
                <a:ext uri="{FF2B5EF4-FFF2-40B4-BE49-F238E27FC236}">
                  <a16:creationId xmlns:a16="http://schemas.microsoft.com/office/drawing/2014/main" id="{C360729D-8994-3929-2397-D58799472F1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2" name="object 6">
              <a:extLst>
                <a:ext uri="{FF2B5EF4-FFF2-40B4-BE49-F238E27FC236}">
                  <a16:creationId xmlns:a16="http://schemas.microsoft.com/office/drawing/2014/main" id="{0A2C509E-5A5D-9993-F5AE-65EC51AC1469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3" name="object 7">
              <a:extLst>
                <a:ext uri="{FF2B5EF4-FFF2-40B4-BE49-F238E27FC236}">
                  <a16:creationId xmlns:a16="http://schemas.microsoft.com/office/drawing/2014/main" id="{1A28B639-3B0E-AAAA-429E-048E69D04258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3200" dirty="0">
                  <a:solidFill>
                    <a:schemeClr val="bg1"/>
                  </a:solidFill>
                </a:rPr>
                <a:t>PROBLEM STATEMENT</a:t>
              </a:r>
              <a:endParaRPr sz="32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3123" y="923547"/>
            <a:ext cx="10935437" cy="5093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b="1" dirty="0"/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2400" b="1" dirty="0"/>
              <a:t>Centralize E-Commerce Data:</a:t>
            </a:r>
            <a:r>
              <a:rPr lang="en-IN" sz="2400" dirty="0"/>
              <a:t> Organize customer, product, order, payment, and delivery information in a structured database.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2400" b="1" dirty="0"/>
              <a:t>Simplify Order Processing:</a:t>
            </a:r>
            <a:r>
              <a:rPr lang="en-IN" sz="2400" dirty="0"/>
              <a:t> Maintain the complete order journey from order placement to successful delivery.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2400" b="1" dirty="0"/>
              <a:t>Improve Order Tracking:</a:t>
            </a:r>
            <a:r>
              <a:rPr lang="en-IN" sz="2400" dirty="0"/>
              <a:t> Track order status and delivery progress accurately.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2400" b="1" dirty="0"/>
              <a:t>Ensure Data Accuracy:</a:t>
            </a:r>
            <a:r>
              <a:rPr lang="en-IN" sz="2400" dirty="0"/>
              <a:t> Reduce duplicate records and maintain consistent information across the system.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2400" b="1" dirty="0"/>
              <a:t>Connect Related Records:</a:t>
            </a:r>
            <a:r>
              <a:rPr lang="en-IN" sz="2400" dirty="0"/>
              <a:t> Establish meaningful relationships between customers, products, orders, payments, and deliveries.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/>
              <a:t>Enable Quick Information Retrieval:</a:t>
            </a:r>
            <a:r>
              <a:rPr lang="en-IN" sz="2400" dirty="0"/>
              <a:t> Make customer, product, and order details easy to access whenever required. </a:t>
            </a:r>
          </a:p>
          <a:p>
            <a:pPr lvl="0"/>
            <a:endParaRPr lang="en-IN" sz="2400" dirty="0"/>
          </a:p>
          <a:p>
            <a:pPr>
              <a:spcAft>
                <a:spcPts val="1000"/>
              </a:spcAft>
              <a:defRPr sz="1900" b="0">
                <a:solidFill>
                  <a:srgbClr val="232323"/>
                </a:solidFill>
                <a:latin typeface="Aptos"/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4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468049-49C7-3CD8-D14D-8FC3E6EC7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65" y="150880"/>
            <a:ext cx="1271836" cy="621787"/>
          </a:xfrm>
          <a:prstGeom prst="rect">
            <a:avLst/>
          </a:prstGeom>
        </p:spPr>
      </p:pic>
      <p:grpSp>
        <p:nvGrpSpPr>
          <p:cNvPr id="9" name="object 3">
            <a:extLst>
              <a:ext uri="{FF2B5EF4-FFF2-40B4-BE49-F238E27FC236}">
                <a16:creationId xmlns:a16="http://schemas.microsoft.com/office/drawing/2014/main" id="{5A0894AA-88DD-0C42-EE01-60AD122FF9F8}"/>
              </a:ext>
            </a:extLst>
          </p:cNvPr>
          <p:cNvGrpSpPr/>
          <p:nvPr/>
        </p:nvGrpSpPr>
        <p:grpSpPr>
          <a:xfrm>
            <a:off x="3152052" y="109504"/>
            <a:ext cx="5334000" cy="1198311"/>
            <a:chOff x="2648188" y="47148"/>
            <a:chExt cx="5103904" cy="1198311"/>
          </a:xfrm>
        </p:grpSpPr>
        <p:pic>
          <p:nvPicPr>
            <p:cNvPr id="10" name="object 4">
              <a:extLst>
                <a:ext uri="{FF2B5EF4-FFF2-40B4-BE49-F238E27FC236}">
                  <a16:creationId xmlns:a16="http://schemas.microsoft.com/office/drawing/2014/main" id="{F5788A3A-9728-7949-E3F3-9481101F994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11" name="object 5">
              <a:extLst>
                <a:ext uri="{FF2B5EF4-FFF2-40B4-BE49-F238E27FC236}">
                  <a16:creationId xmlns:a16="http://schemas.microsoft.com/office/drawing/2014/main" id="{428912F7-00C0-0A43-3C34-6DDCCCE4E9F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2" name="object 6">
              <a:extLst>
                <a:ext uri="{FF2B5EF4-FFF2-40B4-BE49-F238E27FC236}">
                  <a16:creationId xmlns:a16="http://schemas.microsoft.com/office/drawing/2014/main" id="{ECB36F61-576A-3EB5-3A64-FF878834A7E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3" name="object 7">
              <a:extLst>
                <a:ext uri="{FF2B5EF4-FFF2-40B4-BE49-F238E27FC236}">
                  <a16:creationId xmlns:a16="http://schemas.microsoft.com/office/drawing/2014/main" id="{B5C1796B-CC60-0A9D-7901-5396FCB8F907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3200" dirty="0">
                  <a:solidFill>
                    <a:schemeClr val="bg1"/>
                  </a:solidFill>
                </a:rPr>
                <a:t>OBJECTIVE</a:t>
              </a:r>
              <a:endParaRPr sz="32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168877" y="320040"/>
            <a:ext cx="28316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82D4A"/>
                </a:solidFill>
                <a:latin typeface="Aptos Display"/>
              </a:defRPr>
            </a:pPr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732565E-ABED-70AF-7567-F360A2748C3F}"/>
              </a:ext>
            </a:extLst>
          </p:cNvPr>
          <p:cNvSpPr/>
          <p:nvPr/>
        </p:nvSpPr>
        <p:spPr>
          <a:xfrm>
            <a:off x="780288" y="1417320"/>
            <a:ext cx="3182183" cy="143560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Customer Management</a:t>
            </a:r>
          </a:p>
          <a:p>
            <a:pPr algn="ctr"/>
            <a:endParaRPr lang="en-US" dirty="0"/>
          </a:p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Customer details, contact information, and account records</a:t>
            </a:r>
            <a:endParaRPr lang="en-I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C670AA1-5089-D43E-EB40-6848F800527A}"/>
              </a:ext>
            </a:extLst>
          </p:cNvPr>
          <p:cNvSpPr/>
          <p:nvPr/>
        </p:nvSpPr>
        <p:spPr>
          <a:xfrm>
            <a:off x="4410456" y="1417320"/>
            <a:ext cx="3416879" cy="143560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sz="2000" dirty="0"/>
              <a:t>Product management</a:t>
            </a:r>
          </a:p>
          <a:p>
            <a:pPr algn="ctr"/>
            <a:endParaRPr lang="en-IN" dirty="0"/>
          </a:p>
          <a:p>
            <a:pPr algn="ctr"/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Product details, categories, prices, and stock information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F48F576-0B5C-3BE1-748D-6783F268ED3E}"/>
              </a:ext>
            </a:extLst>
          </p:cNvPr>
          <p:cNvSpPr/>
          <p:nvPr/>
        </p:nvSpPr>
        <p:spPr>
          <a:xfrm>
            <a:off x="8196002" y="1417320"/>
            <a:ext cx="3416879" cy="140360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sz="2000" dirty="0"/>
              <a:t>Order Management</a:t>
            </a:r>
          </a:p>
          <a:p>
            <a:pPr algn="ctr"/>
            <a:endParaRPr lang="en-US" dirty="0"/>
          </a:p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Order details, order dates, quantities, and order status</a:t>
            </a:r>
          </a:p>
          <a:p>
            <a:pPr algn="ctr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742E476-6470-86D3-ED8A-A3C43FDB8C01}"/>
              </a:ext>
            </a:extLst>
          </p:cNvPr>
          <p:cNvSpPr/>
          <p:nvPr/>
        </p:nvSpPr>
        <p:spPr>
          <a:xfrm>
            <a:off x="685800" y="3726180"/>
            <a:ext cx="3337560" cy="153162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Payment Management</a:t>
            </a:r>
          </a:p>
          <a:p>
            <a:pPr algn="ctr"/>
            <a:endParaRPr lang="en-US" dirty="0"/>
          </a:p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Payment details, payment methods, and transaction status</a:t>
            </a:r>
          </a:p>
          <a:p>
            <a:pPr algn="ctr"/>
            <a:endParaRPr lang="en-US" dirty="0"/>
          </a:p>
          <a:p>
            <a:pPr algn="ctr"/>
            <a:endParaRPr lang="en-IN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F63B742-1F30-2934-68D2-88BBA45123AD}"/>
              </a:ext>
            </a:extLst>
          </p:cNvPr>
          <p:cNvSpPr/>
          <p:nvPr/>
        </p:nvSpPr>
        <p:spPr>
          <a:xfrm>
            <a:off x="4410456" y="3726180"/>
            <a:ext cx="3416879" cy="153162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Delivery Management</a:t>
            </a:r>
          </a:p>
          <a:p>
            <a:pPr algn="ctr"/>
            <a:endParaRPr lang="en-US" dirty="0"/>
          </a:p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Delivery details, shipping information, and delivery status</a:t>
            </a:r>
          </a:p>
          <a:p>
            <a:pPr algn="ctr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en-IN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3700BF0-9865-A6DE-88B8-F356E378E9F4}"/>
              </a:ext>
            </a:extLst>
          </p:cNvPr>
          <p:cNvSpPr/>
          <p:nvPr/>
        </p:nvSpPr>
        <p:spPr>
          <a:xfrm>
            <a:off x="8439912" y="3726180"/>
            <a:ext cx="3081528" cy="153162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sz="2000" dirty="0"/>
              <a:t>Order Tracking</a:t>
            </a:r>
          </a:p>
          <a:p>
            <a:pPr algn="ctr"/>
            <a:endParaRPr lang="en-US" dirty="0"/>
          </a:p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Tracking order progress from order placement to final delivery</a:t>
            </a:r>
          </a:p>
          <a:p>
            <a:pPr algn="ctr"/>
            <a:endParaRPr lang="en-US" dirty="0"/>
          </a:p>
          <a:p>
            <a:pPr algn="ctr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796348-7790-BB88-0E2B-E625540B7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05" y="78686"/>
            <a:ext cx="1563900" cy="764574"/>
          </a:xfrm>
          <a:prstGeom prst="rect">
            <a:avLst/>
          </a:prstGeom>
        </p:spPr>
      </p:pic>
      <p:grpSp>
        <p:nvGrpSpPr>
          <p:cNvPr id="5" name="object 3">
            <a:extLst>
              <a:ext uri="{FF2B5EF4-FFF2-40B4-BE49-F238E27FC236}">
                <a16:creationId xmlns:a16="http://schemas.microsoft.com/office/drawing/2014/main" id="{402CCC12-5426-F10E-EF3C-982FFD9C8663}"/>
              </a:ext>
            </a:extLst>
          </p:cNvPr>
          <p:cNvGrpSpPr/>
          <p:nvPr/>
        </p:nvGrpSpPr>
        <p:grpSpPr>
          <a:xfrm>
            <a:off x="3152052" y="109504"/>
            <a:ext cx="5334000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8A918837-BCE0-C51A-25CD-4E8CEF884E7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67C4628D-17E8-2448-8599-6C2CDF1EEFF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32C9338A-625B-7F9F-A2FC-809405013736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F7AE703A-606D-569A-3880-1328CD31CE33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3200" dirty="0">
                  <a:solidFill>
                    <a:schemeClr val="bg1"/>
                  </a:solidFill>
                </a:rPr>
                <a:t>SYSTEM SCOPE</a:t>
              </a:r>
              <a:endParaRPr sz="32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53963" y="320040"/>
            <a:ext cx="25359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dirty="0"/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929010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  <a:latin typeface="Aptos"/>
              </a:defRPr>
            </a:pPr>
            <a:r>
              <a:rPr lang="en-IN" sz="2000" dirty="0">
                <a:solidFill>
                  <a:schemeClr val="accent3">
                    <a:lumMod val="50000"/>
                  </a:schemeClr>
                </a:solidFill>
              </a:rPr>
              <a:t>Seven entities identified for the proposed E-Commerce Order Management System</a:t>
            </a:r>
            <a:endParaRPr sz="2000" dirty="0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3D2710-24BC-4C99-1864-3282176D8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95" y="110582"/>
            <a:ext cx="1028789" cy="502964"/>
          </a:xfrm>
          <a:prstGeom prst="rect">
            <a:avLst/>
          </a:prstGeom>
        </p:spPr>
      </p:pic>
      <p:grpSp>
        <p:nvGrpSpPr>
          <p:cNvPr id="9" name="object 3">
            <a:extLst>
              <a:ext uri="{FF2B5EF4-FFF2-40B4-BE49-F238E27FC236}">
                <a16:creationId xmlns:a16="http://schemas.microsoft.com/office/drawing/2014/main" id="{4EF70987-ED72-4201-4FA1-6D7B92D3B9CE}"/>
              </a:ext>
            </a:extLst>
          </p:cNvPr>
          <p:cNvGrpSpPr/>
          <p:nvPr/>
        </p:nvGrpSpPr>
        <p:grpSpPr>
          <a:xfrm>
            <a:off x="3152052" y="109504"/>
            <a:ext cx="5334000" cy="1198311"/>
            <a:chOff x="2648188" y="47148"/>
            <a:chExt cx="5103904" cy="1198311"/>
          </a:xfrm>
        </p:grpSpPr>
        <p:pic>
          <p:nvPicPr>
            <p:cNvPr id="10" name="object 4">
              <a:extLst>
                <a:ext uri="{FF2B5EF4-FFF2-40B4-BE49-F238E27FC236}">
                  <a16:creationId xmlns:a16="http://schemas.microsoft.com/office/drawing/2014/main" id="{8FCACD28-08E1-ED9C-BDFD-C91CF6CB8D0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11" name="object 5">
              <a:extLst>
                <a:ext uri="{FF2B5EF4-FFF2-40B4-BE49-F238E27FC236}">
                  <a16:creationId xmlns:a16="http://schemas.microsoft.com/office/drawing/2014/main" id="{1E7FACBC-E484-8E87-3AA0-9AC84EDBEC4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2" name="object 6">
              <a:extLst>
                <a:ext uri="{FF2B5EF4-FFF2-40B4-BE49-F238E27FC236}">
                  <a16:creationId xmlns:a16="http://schemas.microsoft.com/office/drawing/2014/main" id="{228DCFB8-ADC5-8625-04B2-ED4A3020927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3" name="object 7">
              <a:extLst>
                <a:ext uri="{FF2B5EF4-FFF2-40B4-BE49-F238E27FC236}">
                  <a16:creationId xmlns:a16="http://schemas.microsoft.com/office/drawing/2014/main" id="{99F132AF-1F7E-F007-0CF7-C280B253621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3200" dirty="0">
                  <a:solidFill>
                    <a:schemeClr val="bg1"/>
                  </a:solidFill>
                </a:rPr>
                <a:t>ENTITIES AND ATTRIBUTES</a:t>
              </a:r>
              <a:endParaRPr sz="32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30" name="table">
            <a:extLst>
              <a:ext uri="{FF2B5EF4-FFF2-40B4-BE49-F238E27FC236}">
                <a16:creationId xmlns:a16="http://schemas.microsoft.com/office/drawing/2014/main" id="{3CE566F9-9ACD-482D-58EB-C1ED12F10F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1397244"/>
            <a:ext cx="11162892" cy="48107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F1A6260-188E-22B5-35F4-AA29605BB2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0185628"/>
              </p:ext>
            </p:extLst>
          </p:nvPr>
        </p:nvGraphicFramePr>
        <p:xfrm>
          <a:off x="914400" y="1475040"/>
          <a:ext cx="10585174" cy="411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10139">
                  <a:extLst>
                    <a:ext uri="{9D8B030D-6E8A-4147-A177-3AD203B41FA5}">
                      <a16:colId xmlns:a16="http://schemas.microsoft.com/office/drawing/2014/main" val="632900832"/>
                    </a:ext>
                  </a:extLst>
                </a:gridCol>
                <a:gridCol w="4979505">
                  <a:extLst>
                    <a:ext uri="{9D8B030D-6E8A-4147-A177-3AD203B41FA5}">
                      <a16:colId xmlns:a16="http://schemas.microsoft.com/office/drawing/2014/main" val="666159854"/>
                    </a:ext>
                  </a:extLst>
                </a:gridCol>
                <a:gridCol w="3995530">
                  <a:extLst>
                    <a:ext uri="{9D8B030D-6E8A-4147-A177-3AD203B41FA5}">
                      <a16:colId xmlns:a16="http://schemas.microsoft.com/office/drawing/2014/main" val="421062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Customer(CUSTOMER_ID,  CUSTOMER_NAME,  Email, Phone,  Address)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PK: STUDENT_ID | FK: DEPARTEMENT_ID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462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Category(CATEGORY_ID, CATEGORY_NAME, Description)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PK: CATEGORY_ID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9801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Product(Product_ID, PRODUCT_NAME, Price, STOCK_QUANTITY, CATEGORY_ID)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PK: PRODUCT_ID | FK: CATEGORY_ID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091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Order(ORDER_ID, CUSTOMER_ID, ORDER_DATE, TOTAL_AMOUNT, ORDER_STATUS)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PK: ORDER_ITEM_ID | FK:ORDER_ID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5838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ORDER_ITEM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ORDER_IITEM(ORDER_ITEM_ID, ORDER_ID, Product_ID, Quantity, Subtotal)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PK: ORDER_ID | FK: ORDER_ID, PRODUCT_ID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156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PAYMENT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Payment(PAYMENT_ID, ORDER_ID, PAYMENT_METHOD, PAYMENT_DATE, PAYMENT_STATUS)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PK: PAYMENT_ID | FK: ORDER_ID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8935082"/>
                  </a:ext>
                </a:extLst>
              </a:tr>
            </a:tbl>
          </a:graphicData>
        </a:graphic>
      </p:graphicFrame>
      <p:grpSp>
        <p:nvGrpSpPr>
          <p:cNvPr id="7" name="object 3">
            <a:extLst>
              <a:ext uri="{FF2B5EF4-FFF2-40B4-BE49-F238E27FC236}">
                <a16:creationId xmlns:a16="http://schemas.microsoft.com/office/drawing/2014/main" id="{CD40326E-F31C-3575-EAC0-EA1F708D1D44}"/>
              </a:ext>
            </a:extLst>
          </p:cNvPr>
          <p:cNvGrpSpPr/>
          <p:nvPr/>
        </p:nvGrpSpPr>
        <p:grpSpPr>
          <a:xfrm>
            <a:off x="3152052" y="109504"/>
            <a:ext cx="5952619" cy="1198311"/>
            <a:chOff x="2648188" y="47148"/>
            <a:chExt cx="5695838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8CB8DB7D-6562-EE7F-7D60-2C43C8C1B9C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81F00938-1D5B-4559-8291-C36F66799C4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F6CF0338-7E13-3E8C-EFBF-013DC722C79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B40EEA1C-B0E5-96D0-0974-0FD7282DF3FC}"/>
                </a:ext>
              </a:extLst>
            </p:cNvPr>
            <p:cNvSpPr/>
            <p:nvPr/>
          </p:nvSpPr>
          <p:spPr>
            <a:xfrm>
              <a:off x="2648189" y="282891"/>
              <a:ext cx="5695837" cy="522513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3200" dirty="0">
                  <a:solidFill>
                    <a:schemeClr val="bg1"/>
                  </a:solidFill>
                </a:rPr>
                <a:t>RELATIONAL DATABASE SCHEMA</a:t>
              </a:r>
              <a:endParaRPr sz="32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5F095A70-868F-2D10-9BDD-0A26A1BABE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367" y="109504"/>
            <a:ext cx="1470611" cy="71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969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650080"/>
              </p:ext>
            </p:extLst>
          </p:nvPr>
        </p:nvGraphicFramePr>
        <p:xfrm>
          <a:off x="502920" y="1325880"/>
          <a:ext cx="11201397" cy="4800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33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3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600" dirty="0">
                          <a:solidFill>
                            <a:schemeClr val="tx1"/>
                          </a:solidFill>
                          <a:latin typeface="+mn-lt"/>
                        </a:rPr>
                        <a:t>Relationship</a:t>
                      </a: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600" dirty="0">
                          <a:solidFill>
                            <a:schemeClr val="tx1"/>
                          </a:solidFill>
                          <a:latin typeface="+mn-lt"/>
                        </a:rPr>
                        <a:t>Cardinality</a:t>
                      </a: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600" dirty="0">
                          <a:solidFill>
                            <a:schemeClr val="tx1"/>
                          </a:solidFill>
                          <a:latin typeface="+mn-lt"/>
                        </a:rPr>
                        <a:t>Meaning</a:t>
                      </a:r>
                    </a:p>
                  </a:txBody>
                  <a:tcPr marL="73152" marR="45720" marT="36576" marB="3657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Customer – Order</a:t>
                      </a:r>
                      <a:endParaRPr sz="1600" dirty="0">
                        <a:latin typeface="+mn-lt"/>
                      </a:endParaRP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1600" dirty="0">
                          <a:latin typeface="+mn-lt"/>
                        </a:rPr>
                        <a:t>1 : M</a:t>
                      </a: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One customer can place many orders.</a:t>
                      </a:r>
                      <a:r>
                        <a:rPr sz="1600" dirty="0">
                          <a:latin typeface="+mn-lt"/>
                        </a:rPr>
                        <a:t>.</a:t>
                      </a:r>
                    </a:p>
                  </a:txBody>
                  <a:tcPr marL="73152" marR="45720" marT="36576" marB="3657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Category – Product</a:t>
                      </a:r>
                      <a:endParaRPr sz="1600" dirty="0">
                        <a:latin typeface="+mn-lt"/>
                      </a:endParaRP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1600" dirty="0">
                          <a:latin typeface="+mn-lt"/>
                        </a:rPr>
                        <a:t>1 : M</a:t>
                      </a: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One category can contain many products.</a:t>
                      </a:r>
                      <a:endParaRPr sz="1600" dirty="0">
                        <a:latin typeface="+mn-lt"/>
                      </a:endParaRPr>
                    </a:p>
                  </a:txBody>
                  <a:tcPr marL="73152" marR="45720" marT="36576" marB="3657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Order – Order Item</a:t>
                      </a:r>
                      <a:endParaRPr sz="1600" dirty="0">
                        <a:latin typeface="+mn-lt"/>
                      </a:endParaRP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1600">
                          <a:latin typeface="+mn-lt"/>
                        </a:rPr>
                        <a:t>1 : M</a:t>
                      </a: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One order can contain many order items.</a:t>
                      </a:r>
                      <a:endParaRPr sz="1600" dirty="0">
                        <a:latin typeface="+mn-lt"/>
                      </a:endParaRPr>
                    </a:p>
                  </a:txBody>
                  <a:tcPr marL="73152" marR="45720" marT="36576" marB="3657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Product – Order Item</a:t>
                      </a:r>
                      <a:endParaRPr sz="1600" dirty="0">
                        <a:latin typeface="+mn-lt"/>
                      </a:endParaRP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1600" dirty="0">
                          <a:latin typeface="+mn-lt"/>
                        </a:rPr>
                        <a:t>1 : M</a:t>
                      </a: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One product can appear in many order items.</a:t>
                      </a:r>
                      <a:endParaRPr sz="1600" dirty="0">
                        <a:latin typeface="+mn-lt"/>
                      </a:endParaRPr>
                    </a:p>
                  </a:txBody>
                  <a:tcPr marL="73152" marR="45720" marT="36576" marB="3657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Order – Payment</a:t>
                      </a:r>
                      <a:endParaRPr sz="1600" dirty="0">
                        <a:latin typeface="+mn-lt"/>
                      </a:endParaRP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1600" dirty="0">
                          <a:latin typeface="+mn-lt"/>
                        </a:rPr>
                        <a:t>1 : </a:t>
                      </a:r>
                      <a:r>
                        <a:rPr lang="en-US" sz="1600" dirty="0">
                          <a:latin typeface="+mn-lt"/>
                        </a:rPr>
                        <a:t>1</a:t>
                      </a:r>
                      <a:endParaRPr sz="1600" dirty="0">
                        <a:latin typeface="+mn-lt"/>
                      </a:endParaRP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One order has one payment record.</a:t>
                      </a:r>
                      <a:endParaRPr sz="1600" dirty="0">
                        <a:latin typeface="+mn-lt"/>
                      </a:endParaRPr>
                    </a:p>
                  </a:txBody>
                  <a:tcPr marL="73152" marR="45720" marT="36576" marB="3657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Order – Delivery</a:t>
                      </a:r>
                      <a:endParaRPr sz="1600" dirty="0">
                        <a:latin typeface="+mn-lt"/>
                      </a:endParaRP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1600" dirty="0">
                          <a:latin typeface="+mn-lt"/>
                        </a:rPr>
                        <a:t>1 : </a:t>
                      </a:r>
                      <a:r>
                        <a:rPr lang="en-US" sz="1600" dirty="0">
                          <a:latin typeface="+mn-lt"/>
                        </a:rPr>
                        <a:t>1</a:t>
                      </a:r>
                      <a:endParaRPr sz="1600" dirty="0">
                        <a:latin typeface="+mn-lt"/>
                      </a:endParaRP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One order has one delivery record.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Customer – Address</a:t>
                      </a:r>
                      <a:endParaRPr sz="1600" dirty="0">
                        <a:latin typeface="+mn-lt"/>
                      </a:endParaRP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1600" dirty="0">
                          <a:latin typeface="+mn-lt"/>
                        </a:rPr>
                        <a:t>1 : </a:t>
                      </a:r>
                      <a:r>
                        <a:rPr lang="en-US" sz="1600" dirty="0">
                          <a:latin typeface="+mn-lt"/>
                        </a:rPr>
                        <a:t>M</a:t>
                      </a:r>
                      <a:endParaRPr sz="1600" dirty="0">
                        <a:latin typeface="+mn-lt"/>
                      </a:endParaRPr>
                    </a:p>
                  </a:txBody>
                  <a:tcPr marL="73152" marR="45720" marT="36576" marB="36576"/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One customer can have many addresses.</a:t>
                      </a:r>
                      <a:endParaRPr sz="1600" dirty="0">
                        <a:latin typeface="+mn-lt"/>
                      </a:endParaRPr>
                    </a:p>
                  </a:txBody>
                  <a:tcPr marL="73152" marR="45720" marT="36576" marB="36576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7</a:t>
            </a:r>
          </a:p>
        </p:txBody>
      </p:sp>
      <p:grpSp>
        <p:nvGrpSpPr>
          <p:cNvPr id="12" name="object 3">
            <a:extLst>
              <a:ext uri="{FF2B5EF4-FFF2-40B4-BE49-F238E27FC236}">
                <a16:creationId xmlns:a16="http://schemas.microsoft.com/office/drawing/2014/main" id="{8CBEC2A0-C52F-3B47-5436-66A9471F1B4B}"/>
              </a:ext>
            </a:extLst>
          </p:cNvPr>
          <p:cNvGrpSpPr/>
          <p:nvPr/>
        </p:nvGrpSpPr>
        <p:grpSpPr>
          <a:xfrm>
            <a:off x="3152052" y="109504"/>
            <a:ext cx="6562219" cy="1198311"/>
            <a:chOff x="2648188" y="47148"/>
            <a:chExt cx="6279141" cy="1198311"/>
          </a:xfrm>
        </p:grpSpPr>
        <p:pic>
          <p:nvPicPr>
            <p:cNvPr id="13" name="object 4">
              <a:extLst>
                <a:ext uri="{FF2B5EF4-FFF2-40B4-BE49-F238E27FC236}">
                  <a16:creationId xmlns:a16="http://schemas.microsoft.com/office/drawing/2014/main" id="{555EC586-7199-6E65-E189-EB06A1012D3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14" name="object 5">
              <a:extLst>
                <a:ext uri="{FF2B5EF4-FFF2-40B4-BE49-F238E27FC236}">
                  <a16:creationId xmlns:a16="http://schemas.microsoft.com/office/drawing/2014/main" id="{4057451F-B3E3-8F0B-6952-3BB4B8CD7E5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5" name="object 6">
              <a:extLst>
                <a:ext uri="{FF2B5EF4-FFF2-40B4-BE49-F238E27FC236}">
                  <a16:creationId xmlns:a16="http://schemas.microsoft.com/office/drawing/2014/main" id="{8DD79EFF-C928-AAE1-18D3-D7ECEB70209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6" name="object 7">
              <a:extLst>
                <a:ext uri="{FF2B5EF4-FFF2-40B4-BE49-F238E27FC236}">
                  <a16:creationId xmlns:a16="http://schemas.microsoft.com/office/drawing/2014/main" id="{70F80452-81D7-A2C0-769E-E67C86ACAD51}"/>
                </a:ext>
              </a:extLst>
            </p:cNvPr>
            <p:cNvSpPr/>
            <p:nvPr/>
          </p:nvSpPr>
          <p:spPr>
            <a:xfrm>
              <a:off x="2648189" y="282892"/>
              <a:ext cx="6279140" cy="497358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3200" dirty="0">
                  <a:solidFill>
                    <a:schemeClr val="bg1"/>
                  </a:solidFill>
                </a:rPr>
                <a:t>RELASHIONSHIPS AND CARDINALITY</a:t>
              </a:r>
              <a:endParaRPr sz="32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0D7024-6600-1E22-0F04-A3976BEF85F1}"/>
              </a:ext>
            </a:extLst>
          </p:cNvPr>
          <p:cNvSpPr txBox="1"/>
          <p:nvPr/>
        </p:nvSpPr>
        <p:spPr>
          <a:xfrm>
            <a:off x="621792" y="665081"/>
            <a:ext cx="58664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  <a:latin typeface="Aptos"/>
              </a:defRPr>
            </a:pPr>
            <a:r>
              <a:rPr sz="1600" dirty="0"/>
              <a:t>Conceptual database design – six entities and their relationships</a:t>
            </a:r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EAA3ADDF-DBEA-AF45-94E9-5F4ADDE65A1B}"/>
              </a:ext>
            </a:extLst>
          </p:cNvPr>
          <p:cNvGrpSpPr/>
          <p:nvPr/>
        </p:nvGrpSpPr>
        <p:grpSpPr>
          <a:xfrm>
            <a:off x="2798920" y="-194676"/>
            <a:ext cx="5334000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3014ACE3-EC79-0F3C-95BD-DA94680619B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78BD794F-A427-EFFF-CCCA-A1280021635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128CF15E-BCAA-87D8-5058-ADB8B5BBCDF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D0C6040A-2B32-EEF3-0EEB-F4E7FD4B082A}"/>
                </a:ext>
              </a:extLst>
            </p:cNvPr>
            <p:cNvSpPr/>
            <p:nvPr/>
          </p:nvSpPr>
          <p:spPr>
            <a:xfrm>
              <a:off x="2648189" y="282892"/>
              <a:ext cx="5052773" cy="498012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3200" dirty="0">
                  <a:solidFill>
                    <a:schemeClr val="bg1"/>
                  </a:solidFill>
                </a:rPr>
                <a:t>ER - DIAGRAM</a:t>
              </a:r>
              <a:endParaRPr sz="32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E9931835-196C-A26E-6338-F7FFCD0874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97" y="21326"/>
            <a:ext cx="1200293" cy="58681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571" y="1009128"/>
            <a:ext cx="10021389" cy="5511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446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69AE9F-6A8C-9D09-BF78-79EFAD336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28" y="199654"/>
            <a:ext cx="1125107" cy="5500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ADA0EC2-AE2E-73B3-34BB-97B8FF6C5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53962" y="320040"/>
            <a:ext cx="25359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dirty="0"/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2000" dirty="0"/>
              <a:t>Provides a </a:t>
            </a:r>
            <a:r>
              <a:rPr lang="en-IN" sz="2000" b="1" dirty="0"/>
              <a:t>centralized database</a:t>
            </a:r>
            <a:r>
              <a:rPr lang="en-IN" sz="2000" dirty="0"/>
              <a:t> for managing e-commerce information efficiently.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2000" dirty="0"/>
              <a:t>Connects </a:t>
            </a:r>
            <a:r>
              <a:rPr lang="en-IN" sz="2000" b="1" dirty="0"/>
              <a:t>customers, products, orders, payments, deliveries, and addresses</a:t>
            </a:r>
            <a:r>
              <a:rPr lang="en-IN" sz="2000" dirty="0"/>
              <a:t> through defined relationships.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2000" dirty="0"/>
              <a:t>Helps maintain </a:t>
            </a:r>
            <a:r>
              <a:rPr lang="en-IN" sz="2000" b="1" dirty="0"/>
              <a:t>accurate and consistent</a:t>
            </a:r>
            <a:r>
              <a:rPr lang="en-IN" sz="2000" dirty="0"/>
              <a:t> order-related records.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2000" dirty="0"/>
              <a:t>Simplifies the process of </a:t>
            </a:r>
            <a:r>
              <a:rPr lang="en-IN" sz="2000" b="1" dirty="0"/>
              <a:t>placing, processing, tracking, and delivering orders</a:t>
            </a:r>
            <a:r>
              <a:rPr lang="en-IN" sz="2000" dirty="0"/>
              <a:t>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2000" dirty="0"/>
              <a:t>Reduces </a:t>
            </a:r>
            <a:r>
              <a:rPr lang="en-IN" sz="2000" b="1" dirty="0"/>
              <a:t>data duplication and manual record management</a:t>
            </a:r>
            <a:r>
              <a:rPr lang="en-IN" sz="2000" dirty="0"/>
              <a:t>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2000" dirty="0"/>
              <a:t>The identified </a:t>
            </a:r>
            <a:r>
              <a:rPr lang="en-IN" sz="2000" b="1" dirty="0"/>
              <a:t>primary keys and foreign keys</a:t>
            </a:r>
            <a:r>
              <a:rPr lang="en-IN" sz="2000" dirty="0"/>
              <a:t> maintain data integrity between tables.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2000" dirty="0"/>
              <a:t>The relational schema provides a </a:t>
            </a:r>
            <a:r>
              <a:rPr lang="en-IN" sz="2000" b="1" dirty="0"/>
              <a:t>structured foundation for future implementation</a:t>
            </a:r>
            <a:r>
              <a:rPr lang="en-IN" sz="2000" dirty="0"/>
              <a:t>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2000" dirty="0"/>
              <a:t>The proposed design can be extended with features such as </a:t>
            </a:r>
            <a:r>
              <a:rPr lang="en-IN" sz="2000" b="1" dirty="0"/>
              <a:t>returns, reviews, offers, and order analytics</a:t>
            </a:r>
            <a:r>
              <a:rPr lang="en-IN" sz="2000" dirty="0"/>
              <a:t>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2000" dirty="0"/>
              <a:t>Overall, the system provides a </a:t>
            </a:r>
            <a:r>
              <a:rPr lang="en-IN" sz="2000" b="1" dirty="0"/>
              <a:t>scalable and organized database foundation</a:t>
            </a:r>
            <a:r>
              <a:rPr lang="en-IN" sz="2000" dirty="0"/>
              <a:t> for an efficient e-commerce platform. </a:t>
            </a:r>
          </a:p>
          <a:p>
            <a:pPr>
              <a:spcAft>
                <a:spcPts val="1000"/>
              </a:spcAft>
              <a:defRPr sz="2000" b="0">
                <a:solidFill>
                  <a:srgbClr val="232323"/>
                </a:solidFill>
                <a:latin typeface="Aptos"/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14442" y="5715000"/>
            <a:ext cx="513262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75B91"/>
                </a:solidFill>
                <a:latin typeface="Aptos"/>
              </a:defRPr>
            </a:pPr>
            <a:r>
              <a:rPr lang="en-IN" sz="1600" b="1" dirty="0">
                <a:solidFill>
                  <a:schemeClr val="tx2"/>
                </a:solidFill>
              </a:rPr>
              <a:t>Review–I Focus: Order Management Database Design</a:t>
            </a:r>
            <a:endParaRPr dirty="0">
              <a:solidFill>
                <a:schemeClr val="tx2"/>
              </a:solidFill>
            </a:endParaRPr>
          </a:p>
        </p:txBody>
      </p:sp>
      <p:grpSp>
        <p:nvGrpSpPr>
          <p:cNvPr id="15" name="object 3">
            <a:extLst>
              <a:ext uri="{FF2B5EF4-FFF2-40B4-BE49-F238E27FC236}">
                <a16:creationId xmlns:a16="http://schemas.microsoft.com/office/drawing/2014/main" id="{5956FA3D-950A-0F2A-903E-ECED4E5BFE4F}"/>
              </a:ext>
            </a:extLst>
          </p:cNvPr>
          <p:cNvGrpSpPr/>
          <p:nvPr/>
        </p:nvGrpSpPr>
        <p:grpSpPr>
          <a:xfrm>
            <a:off x="3152052" y="109504"/>
            <a:ext cx="5334000" cy="1198311"/>
            <a:chOff x="2648188" y="47148"/>
            <a:chExt cx="5103904" cy="1198311"/>
          </a:xfrm>
        </p:grpSpPr>
        <p:pic>
          <p:nvPicPr>
            <p:cNvPr id="16" name="object 4">
              <a:extLst>
                <a:ext uri="{FF2B5EF4-FFF2-40B4-BE49-F238E27FC236}">
                  <a16:creationId xmlns:a16="http://schemas.microsoft.com/office/drawing/2014/main" id="{C6643642-EEFB-28D8-9268-B79B7E53817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17" name="object 5">
              <a:extLst>
                <a:ext uri="{FF2B5EF4-FFF2-40B4-BE49-F238E27FC236}">
                  <a16:creationId xmlns:a16="http://schemas.microsoft.com/office/drawing/2014/main" id="{8C34FF0D-C52C-BE25-718E-CDFB04696A2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8" name="object 6">
              <a:extLst>
                <a:ext uri="{FF2B5EF4-FFF2-40B4-BE49-F238E27FC236}">
                  <a16:creationId xmlns:a16="http://schemas.microsoft.com/office/drawing/2014/main" id="{ED54EE4B-27B3-855D-74D6-DAAE0EF34FA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9" name="object 7">
              <a:extLst>
                <a:ext uri="{FF2B5EF4-FFF2-40B4-BE49-F238E27FC236}">
                  <a16:creationId xmlns:a16="http://schemas.microsoft.com/office/drawing/2014/main" id="{19C26DBB-3681-4370-6AAB-5E1E43BEEE87}"/>
                </a:ext>
              </a:extLst>
            </p:cNvPr>
            <p:cNvSpPr/>
            <p:nvPr/>
          </p:nvSpPr>
          <p:spPr>
            <a:xfrm>
              <a:off x="2648189" y="282892"/>
              <a:ext cx="5052773" cy="498012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3200" dirty="0">
                  <a:solidFill>
                    <a:schemeClr val="bg1"/>
                  </a:solidFill>
                </a:rPr>
                <a:t>COCLUSION</a:t>
              </a:r>
              <a:endParaRPr sz="32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A8AB436A-607B-3C73-4618-7D5DC8CC11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007" y="110930"/>
            <a:ext cx="1222628" cy="5977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ED3900-73B3-7256-03D5-530896142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63" y="159015"/>
            <a:ext cx="1464659" cy="7160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C7C6A3-07DF-E47C-BF3F-5A8BA0382F49}"/>
              </a:ext>
            </a:extLst>
          </p:cNvPr>
          <p:cNvSpPr txBox="1"/>
          <p:nvPr/>
        </p:nvSpPr>
        <p:spPr>
          <a:xfrm>
            <a:off x="2536724" y="2251587"/>
            <a:ext cx="70595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/>
              <a:t> </a:t>
            </a:r>
            <a:r>
              <a:rPr lang="en-US" sz="9600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Thank</a:t>
            </a:r>
            <a:r>
              <a:rPr lang="en-IN" sz="9600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 You</a:t>
            </a:r>
            <a:endParaRPr lang="en-US" sz="9600" dirty="0">
              <a:solidFill>
                <a:schemeClr val="tx1">
                  <a:lumMod val="95000"/>
                  <a:lumOff val="5000"/>
                </a:schemeClr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408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941</Words>
  <Application>Microsoft Office PowerPoint</Application>
  <PresentationFormat>Widescreen</PresentationFormat>
  <Paragraphs>146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Algerian</vt:lpstr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VITTHAL</dc:creator>
  <cp:keywords/>
  <dc:description>generated using python-pptx</dc:description>
  <cp:lastModifiedBy>patchigolla chandrika</cp:lastModifiedBy>
  <cp:revision>9</cp:revision>
  <dcterms:created xsi:type="dcterms:W3CDTF">2013-01-27T09:14:16Z</dcterms:created>
  <dcterms:modified xsi:type="dcterms:W3CDTF">2026-09-29T12:16:26Z</dcterms:modified>
  <cp:category/>
</cp:coreProperties>
</file>