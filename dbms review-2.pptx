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E5875-FA84-419A-A5A4-F4F1DE0A30E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46156-1507-4AB8-8BB0-704BCAB08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68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46156-1507-4AB8-8BB0-704BCAB080C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02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C19D-1893-7CDB-0489-B9C2685DD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94882-7F8C-92B4-4202-AD0FFB9EE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ECBF-88E9-9111-24D9-75CEA756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9C6D-8881-577E-D313-E1F5E1AC9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2A9A1-09EC-5C8A-78E8-FDA98149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39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92C6-4DF6-2620-ADBF-A5884D63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CB1D3-E687-FB28-4BA1-0D0C43454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4ADF9-9A02-0DAB-AF33-95D12ED3F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D4510-7EB8-A00E-E619-3211ECE4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E0E9-5A3A-7E2F-F623-6A5D0C88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4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AB23-9A14-D285-B46B-C14EBDFD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70130-EFDA-B4F5-814E-3F0555C3F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DEA87-A88A-6CA1-F679-B8407563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CDEE0-BFDE-9BAE-155C-F7B0B0BF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AF810-CF1F-DF40-F5A6-CDD7EA20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3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1C7E-AEF4-BC9B-D973-82F57C44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C4651-3FE3-6FE8-8D25-041F41C51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DE082-8F0E-BAC4-001F-047D9A7D8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31547-E46E-7362-F554-785F4A34E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35C8D-D989-DE2A-58BC-D9B44307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E7C3C-B420-3BDB-02E8-56D43FF5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083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7E0E-3CCC-7FE6-9105-DAEB8EFC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7ED45-A900-D7C8-5B53-4E4DA99AE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F3435-829B-B2B2-FB7D-6F59FB12F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DB13C-7483-5271-6A79-CAFB456EE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328FD-C59C-BC07-AECF-47D9C9F3D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30EE3-D742-F5B5-4A83-98C890E9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662E28-68B4-F3FE-F797-99F85512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1EBEC-4CBE-C0F6-10B0-484DBAA8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2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C045-6B05-D231-7296-E7165D97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16FC0-D8CA-E04E-D933-C94F9B3FD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C08A2-7FCF-B22A-55A8-BD29A1A4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545B4-FBF0-04F7-78F9-599FA603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78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D961A-4F18-16DD-5687-EC9F9CEE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173FB-03E0-D737-CAF3-5575ABF7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545AB-2F52-C1FF-B7FB-3992F068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52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D598-827D-C8EA-9BB2-C9ED2B401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3EB7E-89BF-80C9-F1A2-A92A78FB2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E2C96-7AA2-2200-F993-8CE506FFB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14113-224A-F063-3995-BC396E92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4A710-33C7-42C4-0E2C-8D6B1AFF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22A8E-099C-9FFE-BCA6-A73A0039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06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3CB8-3531-D572-FEF8-073AE353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47840-EE13-53FB-4609-4D8C5FE34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6E634-C559-4F3D-AD5F-1664408F9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92706-2B36-111E-C394-B89FA7D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085DC-EAFD-D18D-4637-08A4ED6B0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FDFBC-F3AE-01D0-9F48-5A96B74E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89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1DB3-36C6-AB97-FE37-8AB7B90D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E6540-A6BB-52FF-4989-105441C0E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BFCBA-37DD-B237-C4A9-D9110097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7F4A9-C058-3F92-F9F1-D67CF25D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61036-8DCF-EFBE-BF7A-C1E84684F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212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E84CDC-686C-9906-8533-8980265F3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60C3E-9D64-E6A4-D122-2CD237A16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EC7DC-FBE6-0B8D-6248-978F29FA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9B7C1-DB2A-6369-40DD-CFC34AE3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FFA00-4B6C-1279-7D1C-2FB9AEC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36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45D19-6FC8-34A5-F2CC-1C9849D2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9E7D7-5A63-537F-96BF-33C2E96CD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83A73-A2A4-0D40-AEBC-8752562C0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82D60-10BF-4258-9D50-365CB417E2D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B3A3A-4BFB-6727-FFFA-D4C7D8C47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26AF0-CDBD-7EDE-1FCF-5C5AEE7DE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A19CD-66F5-471F-871D-EA7C11894E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77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1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9335E-E769-F1E2-35B2-AD1B990B2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86000" cy="820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5180B8-5250-008C-4AF1-B8EA393BFAEE}"/>
              </a:ext>
            </a:extLst>
          </p:cNvPr>
          <p:cNvSpPr txBox="1"/>
          <p:nvPr/>
        </p:nvSpPr>
        <p:spPr>
          <a:xfrm>
            <a:off x="3189514" y="1055914"/>
            <a:ext cx="5747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E-COMMERCE ORDER MANAGEMENT SYSTEM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74468-ECD6-FD59-4795-DF74F02CFF13}"/>
              </a:ext>
            </a:extLst>
          </p:cNvPr>
          <p:cNvSpPr txBox="1"/>
          <p:nvPr/>
        </p:nvSpPr>
        <p:spPr>
          <a:xfrm>
            <a:off x="3037114" y="2405743"/>
            <a:ext cx="6106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Capstone project review-2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CE5C-4649-5F92-0AA5-4932D7158F8A}"/>
              </a:ext>
            </a:extLst>
          </p:cNvPr>
          <p:cNvSpPr txBox="1"/>
          <p:nvPr/>
        </p:nvSpPr>
        <p:spPr>
          <a:xfrm>
            <a:off x="5029200" y="3069771"/>
            <a:ext cx="2373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BATCH NUMBER:11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736F6F-8033-1063-9B22-15C6204399CF}"/>
              </a:ext>
            </a:extLst>
          </p:cNvPr>
          <p:cNvSpPr txBox="1"/>
          <p:nvPr/>
        </p:nvSpPr>
        <p:spPr>
          <a:xfrm>
            <a:off x="500742" y="3744372"/>
            <a:ext cx="1785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dk1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FF0B76-94E3-8778-BDC2-08B96568D3DA}"/>
              </a:ext>
            </a:extLst>
          </p:cNvPr>
          <p:cNvSpPr txBox="1"/>
          <p:nvPr/>
        </p:nvSpPr>
        <p:spPr>
          <a:xfrm>
            <a:off x="228599" y="4278792"/>
            <a:ext cx="32874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25B11AI911</a:t>
            </a:r>
            <a:r>
              <a:rPr lang="en-US" dirty="0"/>
              <a:t>-</a:t>
            </a:r>
            <a:r>
              <a:rPr lang="en-US" sz="1800" dirty="0"/>
              <a:t>P.CHANDRIKA(AIML)</a:t>
            </a:r>
          </a:p>
          <a:p>
            <a:pPr algn="ctr"/>
            <a:r>
              <a:rPr lang="en-US" sz="1800" dirty="0"/>
              <a:t>25B11AI332-G.ANVITHA(AIML)</a:t>
            </a:r>
          </a:p>
          <a:p>
            <a:pPr algn="ctr"/>
            <a:r>
              <a:rPr lang="en-US" sz="1800" dirty="0"/>
              <a:t>25B11AI420-J.TANISHKA(AIML)</a:t>
            </a:r>
          </a:p>
          <a:p>
            <a:pPr algn="ctr"/>
            <a:r>
              <a:rPr lang="en-US" sz="1800" dirty="0"/>
              <a:t>25B11AIB23-S.SUDHADEVI(AIML)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936EFD-FD59-C1FA-C83C-B16C86714F34}"/>
              </a:ext>
            </a:extLst>
          </p:cNvPr>
          <p:cNvSpPr txBox="1"/>
          <p:nvPr/>
        </p:nvSpPr>
        <p:spPr>
          <a:xfrm rot="10800000" flipV="1">
            <a:off x="8458199" y="3711694"/>
            <a:ext cx="2928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Academic Year: 2026-2027</a:t>
            </a:r>
            <a:endParaRPr lang="en-IN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7E1FB0-9AF9-7C56-996D-F2B3165ED642}"/>
              </a:ext>
            </a:extLst>
          </p:cNvPr>
          <p:cNvSpPr txBox="1"/>
          <p:nvPr/>
        </p:nvSpPr>
        <p:spPr>
          <a:xfrm rot="10800000" flipH="1" flipV="1">
            <a:off x="8458199" y="4420620"/>
            <a:ext cx="32874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Under esteemed guidance of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ctr"/>
            <a:r>
              <a:rPr lang="en-US" sz="1800" noProof="1">
                <a:cs typeface="Times New Roman" panose="02020603050405020304" pitchFamily="18" charset="0"/>
              </a:rPr>
              <a:t>      </a:t>
            </a:r>
            <a:r>
              <a:rPr lang="en-US" sz="1800" b="1" noProof="1">
                <a:cs typeface="Times New Roman" panose="02020603050405020304" pitchFamily="18" charset="0"/>
              </a:rPr>
              <a:t>Dr P Kishorekumar</a:t>
            </a:r>
            <a:r>
              <a:rPr lang="en-US" sz="1800" noProof="1"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US" sz="1800" noProof="1"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cs typeface="Times New Roman" panose="02020603050405020304" pitchFamily="18" charset="0"/>
              </a:rPr>
              <a:t>Associate Professor </a:t>
            </a:r>
          </a:p>
          <a:p>
            <a:pPr algn="ctr"/>
            <a:r>
              <a:rPr lang="en-US" sz="1800" dirty="0">
                <a:cs typeface="Times New Roman" panose="02020603050405020304" pitchFamily="18" charset="0"/>
              </a:rPr>
              <a:t>         Department of AIML</a:t>
            </a:r>
          </a:p>
          <a:p>
            <a:pPr algn="ctr"/>
            <a:r>
              <a:rPr lang="en-US" sz="1800" b="1" dirty="0">
                <a:cs typeface="Times New Roman" panose="02020603050405020304" pitchFamily="18" charset="0"/>
              </a:rPr>
              <a:t>Aditya University </a:t>
            </a:r>
            <a:endParaRPr lang="en-US" sz="1800" b="1" dirty="0">
              <a:solidFill>
                <a:schemeClr val="dk1"/>
              </a:solidFill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81004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D11FB-0BD3-50B6-C0CE-A81800F67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253343" cy="808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A9D417-3D98-E079-29DB-DAD83AAE4A48}"/>
              </a:ext>
            </a:extLst>
          </p:cNvPr>
          <p:cNvSpPr txBox="1"/>
          <p:nvPr/>
        </p:nvSpPr>
        <p:spPr>
          <a:xfrm>
            <a:off x="1709057" y="808452"/>
            <a:ext cx="74349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F91D3-6DD2-9FED-30B6-AC2664A1944B}"/>
              </a:ext>
            </a:extLst>
          </p:cNvPr>
          <p:cNvSpPr txBox="1"/>
          <p:nvPr/>
        </p:nvSpPr>
        <p:spPr>
          <a:xfrm>
            <a:off x="195942" y="1981200"/>
            <a:ext cx="103849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E-Commerce Order Management System is designed to manage online customer orders efficiently.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helps customers place orders for products through an online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system stores customer, product, order, and payment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Admin can add, update, and manage products.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system tracks order status such as </a:t>
            </a:r>
            <a:r>
              <a:rPr lang="en-IN" sz="2400" b="1" dirty="0"/>
              <a:t>Pending, Confirmed, Shipped, Delivered, and Cancelled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It helps reduce manual work and improves order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Domain:</a:t>
            </a:r>
            <a:r>
              <a:rPr lang="en-IN" sz="2400" dirty="0"/>
              <a:t> E-Commerce / Online Shopping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Technologies:</a:t>
            </a:r>
            <a:r>
              <a:rPr lang="en-IN" sz="2400" dirty="0"/>
              <a:t> C++ / DBMS / SQL </a:t>
            </a:r>
            <a:r>
              <a:rPr lang="en-IN" sz="2400" i="1" dirty="0"/>
              <a:t>(modify according to your actual project)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54107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0B91D-05E2-705B-7E19-520113016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07771" cy="827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39BD47-E32F-22E5-0723-946F724E228C}"/>
              </a:ext>
            </a:extLst>
          </p:cNvPr>
          <p:cNvSpPr txBox="1"/>
          <p:nvPr/>
        </p:nvSpPr>
        <p:spPr>
          <a:xfrm>
            <a:off x="2013857" y="957943"/>
            <a:ext cx="800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Existing System and Proposed System</a:t>
            </a:r>
            <a:endParaRPr lang="en-IN" sz="36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CD7612-34F8-24AE-5FC9-7772BF549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332518"/>
              </p:ext>
            </p:extLst>
          </p:nvPr>
        </p:nvGraphicFramePr>
        <p:xfrm>
          <a:off x="511629" y="1843094"/>
          <a:ext cx="11310257" cy="467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89">
                  <a:extLst>
                    <a:ext uri="{9D8B030D-6E8A-4147-A177-3AD203B41FA5}">
                      <a16:colId xmlns:a16="http://schemas.microsoft.com/office/drawing/2014/main" val="2775069494"/>
                    </a:ext>
                  </a:extLst>
                </a:gridCol>
                <a:gridCol w="5671568">
                  <a:extLst>
                    <a:ext uri="{9D8B030D-6E8A-4147-A177-3AD203B41FA5}">
                      <a16:colId xmlns:a16="http://schemas.microsoft.com/office/drawing/2014/main" val="503974064"/>
                    </a:ext>
                  </a:extLst>
                </a:gridCol>
              </a:tblGrid>
              <a:tr h="933454">
                <a:tc>
                  <a:txBody>
                    <a:bodyPr/>
                    <a:lstStyle/>
                    <a:p>
                      <a:pPr algn="ctr"/>
                      <a:r>
                        <a:rPr lang="en-IN" sz="4000" dirty="0">
                          <a:solidFill>
                            <a:schemeClr val="bg1"/>
                          </a:solidFill>
                        </a:rPr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Proposed Database System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687"/>
                  </a:ext>
                </a:extLst>
              </a:tr>
              <a:tr h="616523">
                <a:tc>
                  <a:txBody>
                    <a:bodyPr/>
                    <a:lstStyle/>
                    <a:p>
                      <a:r>
                        <a:rPr lang="en-IN" dirty="0"/>
                        <a:t>Manual order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Centralized database for 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18008"/>
                  </a:ext>
                </a:extLst>
              </a:tr>
              <a:tr h="616523">
                <a:tc>
                  <a:txBody>
                    <a:bodyPr/>
                    <a:lstStyle/>
                    <a:p>
                      <a:r>
                        <a:rPr lang="en-IN" dirty="0"/>
                        <a:t>Customer and product data stored separately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Related tables for Customers, Products, Orders and Payments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41843"/>
                  </a:ext>
                </a:extLst>
              </a:tr>
              <a:tr h="616523">
                <a:tc>
                  <a:txBody>
                    <a:bodyPr/>
                    <a:lstStyle/>
                    <a:p>
                      <a:r>
                        <a:rPr lang="en-IN" dirty="0"/>
                        <a:t>Duplicate or inconsistent order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Keys and constraints maintain data integrity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156860"/>
                  </a:ext>
                </a:extLst>
              </a:tr>
              <a:tr h="616523">
                <a:tc>
                  <a:txBody>
                    <a:bodyPr/>
                    <a:lstStyle/>
                    <a:p>
                      <a:r>
                        <a:rPr lang="en-IN" dirty="0"/>
                        <a:t>Difficult to track order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Order status tracking: Pending, Confirmed, Shipped, Delivered, Cancelled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506563"/>
                  </a:ext>
                </a:extLst>
              </a:tr>
              <a:tr h="616523">
                <a:tc>
                  <a:txBody>
                    <a:bodyPr/>
                    <a:lstStyle/>
                    <a:p>
                      <a:r>
                        <a:rPr lang="en-IN" dirty="0"/>
                        <a:t>Time-consuming order searches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queries for quick order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172656"/>
                  </a:ext>
                </a:extLst>
              </a:tr>
              <a:tr h="616523">
                <a:tc>
                  <a:txBody>
                    <a:bodyPr/>
                    <a:lstStyle/>
                    <a:p>
                      <a:r>
                        <a:rPr lang="en-IN" dirty="0"/>
                        <a:t>Difficult to generate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joins, aggregation and views for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702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500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8933F-E474-387B-22BF-914A0C507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83971" cy="1050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A5E8FA-A17F-031E-78F0-404B6DED1BF1}"/>
              </a:ext>
            </a:extLst>
          </p:cNvPr>
          <p:cNvSpPr txBox="1"/>
          <p:nvPr/>
        </p:nvSpPr>
        <p:spPr>
          <a:xfrm>
            <a:off x="2950029" y="805543"/>
            <a:ext cx="64334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Functional 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0F816-9AAB-468D-6119-8BBA77F673A2}"/>
              </a:ext>
            </a:extLst>
          </p:cNvPr>
          <p:cNvSpPr txBox="1"/>
          <p:nvPr/>
        </p:nvSpPr>
        <p:spPr>
          <a:xfrm>
            <a:off x="478971" y="1850572"/>
            <a:ext cx="10863943" cy="5035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Customer Management</a:t>
            </a:r>
            <a:r>
              <a:rPr lang="en-IN" sz="2400" dirty="0"/>
              <a:t> – Manage customer details, contact information, and account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Product Management</a:t>
            </a:r>
            <a:r>
              <a:rPr lang="en-IN" sz="2400" dirty="0"/>
              <a:t> – Manage product details, categories, prices, and stock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Order Management</a:t>
            </a:r>
            <a:r>
              <a:rPr lang="en-IN" sz="2400" dirty="0"/>
              <a:t> – Manage order dates, quantities, total amounts, and order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Payment Management</a:t>
            </a:r>
            <a:r>
              <a:rPr lang="en-IN" sz="2400" dirty="0"/>
              <a:t> – Manage payment methods, payment dates, and payment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Delivery Management</a:t>
            </a:r>
            <a:r>
              <a:rPr lang="en-IN" sz="2400" dirty="0"/>
              <a:t> – Manage delivery address, delivery date, and delivery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Order Tracking</a:t>
            </a:r>
            <a:r>
              <a:rPr lang="en-IN" sz="2400" dirty="0"/>
              <a:t> – Track the progress of an order from placement to final delivery.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Database Management</a:t>
            </a:r>
            <a:r>
              <a:rPr lang="en-IN" sz="2400" dirty="0"/>
              <a:t> – Maintain relationships between customers, products, orders, payments, and deliveries using primary and foreign keys.</a:t>
            </a:r>
          </a:p>
        </p:txBody>
      </p:sp>
    </p:spTree>
    <p:extLst>
      <p:ext uri="{BB962C8B-B14F-4D97-AF65-F5344CB8AC3E}">
        <p14:creationId xmlns:p14="http://schemas.microsoft.com/office/powerpoint/2010/main" val="141789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B5B25-404F-A26C-6E7B-E0D998AE5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2340429" cy="839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79B635-DAB7-3E93-4220-1E4868D23433}"/>
              </a:ext>
            </a:extLst>
          </p:cNvPr>
          <p:cNvSpPr txBox="1"/>
          <p:nvPr/>
        </p:nvSpPr>
        <p:spPr>
          <a:xfrm>
            <a:off x="1230086" y="1077217"/>
            <a:ext cx="9056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Database Schema Used for Implementation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0DB0CA6-7C54-91DB-BB8C-DB7C1BE50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60590"/>
              </p:ext>
            </p:extLst>
          </p:nvPr>
        </p:nvGraphicFramePr>
        <p:xfrm>
          <a:off x="402771" y="1839687"/>
          <a:ext cx="11125200" cy="473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0375">
                  <a:extLst>
                    <a:ext uri="{9D8B030D-6E8A-4147-A177-3AD203B41FA5}">
                      <a16:colId xmlns:a16="http://schemas.microsoft.com/office/drawing/2014/main" val="3885905238"/>
                    </a:ext>
                  </a:extLst>
                </a:gridCol>
                <a:gridCol w="3389435">
                  <a:extLst>
                    <a:ext uri="{9D8B030D-6E8A-4147-A177-3AD203B41FA5}">
                      <a16:colId xmlns:a16="http://schemas.microsoft.com/office/drawing/2014/main" val="192029281"/>
                    </a:ext>
                  </a:extLst>
                </a:gridCol>
                <a:gridCol w="3435390">
                  <a:extLst>
                    <a:ext uri="{9D8B030D-6E8A-4147-A177-3AD203B41FA5}">
                      <a16:colId xmlns:a16="http://schemas.microsoft.com/office/drawing/2014/main" val="552848865"/>
                    </a:ext>
                  </a:extLst>
                </a:gridCol>
              </a:tblGrid>
              <a:tr h="7876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Table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Primary Key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Foreign Keys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497543"/>
                  </a:ext>
                </a:extLst>
              </a:tr>
              <a:tr h="636195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CUSTOMER</a:t>
                      </a:r>
                      <a:br>
                        <a:rPr lang="en-IN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PK:</a:t>
                      </a:r>
                      <a:r>
                        <a:rPr lang="en-IN" dirty="0"/>
                        <a:t> 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-------------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239734"/>
                  </a:ext>
                </a:extLst>
              </a:tr>
              <a:tr h="53286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PK:</a:t>
                      </a:r>
                      <a:r>
                        <a:rPr lang="en-IN" dirty="0"/>
                        <a:t> CATEGORY_ID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-------------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318753"/>
                  </a:ext>
                </a:extLst>
              </a:tr>
              <a:tr h="53286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PK: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Product_ID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FK:</a:t>
                      </a:r>
                      <a:r>
                        <a:rPr lang="en-IN" dirty="0"/>
                        <a:t> CATEGORY_ID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357646"/>
                  </a:ext>
                </a:extLst>
              </a:tr>
              <a:tr h="53286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PK:</a:t>
                      </a:r>
                      <a:r>
                        <a:rPr lang="en-IN" dirty="0"/>
                        <a:t> 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FK:</a:t>
                      </a:r>
                      <a:r>
                        <a:rPr lang="en-IN" dirty="0"/>
                        <a:t> 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140435"/>
                  </a:ext>
                </a:extLst>
              </a:tr>
              <a:tr h="53286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ORDER_ITEM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PK:</a:t>
                      </a:r>
                      <a:r>
                        <a:rPr lang="en-IN" dirty="0"/>
                        <a:t> ORDER_ITEM_ID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FK:</a:t>
                      </a:r>
                      <a:r>
                        <a:rPr lang="en-IN" dirty="0"/>
                        <a:t> ORDER_ID, </a:t>
                      </a:r>
                      <a:r>
                        <a:rPr lang="en-IN" dirty="0" err="1"/>
                        <a:t>Product_ID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8626"/>
                  </a:ext>
                </a:extLst>
              </a:tr>
              <a:tr h="636195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PK:</a:t>
                      </a:r>
                      <a:r>
                        <a:rPr lang="en-IN" dirty="0"/>
                        <a:t> PAYMENT_ID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FK:</a:t>
                      </a:r>
                      <a:r>
                        <a:rPr lang="en-IN" dirty="0"/>
                        <a:t> ORDER_ID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16056"/>
                  </a:ext>
                </a:extLst>
              </a:tr>
              <a:tr h="53286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PK:</a:t>
                      </a:r>
                      <a:r>
                        <a:rPr lang="en-IN" dirty="0"/>
                        <a:t> DELIVERY_ID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FK:</a:t>
                      </a:r>
                      <a:r>
                        <a:rPr lang="en-IN" dirty="0"/>
                        <a:t> ORDER_ID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35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03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8C0C28-5300-9AB6-30F3-9259AB2B1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425658" cy="8055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95B7B4-27FF-A4B6-2B1D-7F982871E584}"/>
              </a:ext>
            </a:extLst>
          </p:cNvPr>
          <p:cNvSpPr txBox="1"/>
          <p:nvPr/>
        </p:nvSpPr>
        <p:spPr>
          <a:xfrm>
            <a:off x="3069771" y="805543"/>
            <a:ext cx="6509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Table Design and Constraints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E692B6-E01E-14F9-005E-81DA1D737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22862"/>
              </p:ext>
            </p:extLst>
          </p:nvPr>
        </p:nvGraphicFramePr>
        <p:xfrm>
          <a:off x="507331" y="1621972"/>
          <a:ext cx="11177338" cy="5018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669">
                  <a:extLst>
                    <a:ext uri="{9D8B030D-6E8A-4147-A177-3AD203B41FA5}">
                      <a16:colId xmlns:a16="http://schemas.microsoft.com/office/drawing/2014/main" val="3200338826"/>
                    </a:ext>
                  </a:extLst>
                </a:gridCol>
                <a:gridCol w="5588669">
                  <a:extLst>
                    <a:ext uri="{9D8B030D-6E8A-4147-A177-3AD203B41FA5}">
                      <a16:colId xmlns:a16="http://schemas.microsoft.com/office/drawing/2014/main" val="524952945"/>
                    </a:ext>
                  </a:extLst>
                </a:gridCol>
              </a:tblGrid>
              <a:tr h="436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Table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/ Validation Rules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58960"/>
                  </a:ext>
                </a:extLst>
              </a:tr>
              <a:tr h="6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Customer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Customer_ID; NOT NULL Customer_Name; UNIQUE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739276"/>
                  </a:ext>
                </a:extLst>
              </a:tr>
              <a:tr h="44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Category_ID; NOT NULL Category_Name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857807"/>
                  </a:ext>
                </a:extLst>
              </a:tr>
              <a:tr h="6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Product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Product_ID; NOT NULL Product_Name; CHECK Price &gt; 0; CHECK Stock_Quantity &gt;= 0; FK Category_ID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30371"/>
                  </a:ext>
                </a:extLst>
              </a:tr>
              <a:tr h="6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Order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Order_ID; NOT NULL Order_Date; CHECK Total_Amount &gt;= 0; FK Customer_ID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741944"/>
                  </a:ext>
                </a:extLst>
              </a:tr>
              <a:tr h="6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Order_Item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Order_Item_ID; NOT NULL Quantity; CHECK Quantity &gt; 0; CHECK Subtotal &gt;= 0; FKs Order_ID, Product_ID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549135"/>
                  </a:ext>
                </a:extLst>
              </a:tr>
              <a:tr h="694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Payment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Payment_ID; NOT NULL Payment_Method; FK Order_ID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87774"/>
                  </a:ext>
                </a:extLst>
              </a:tr>
              <a:tr h="661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Delivery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PK Delivery _ID; NOT NULL Delivery _ Address; FK  Order_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583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533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439F5B-6D3C-55E7-82AD-A1DC40134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2536371" cy="829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21633-BBB0-D6FF-6B68-B82F2765DDFE}"/>
              </a:ext>
            </a:extLst>
          </p:cNvPr>
          <p:cNvSpPr txBox="1"/>
          <p:nvPr/>
        </p:nvSpPr>
        <p:spPr>
          <a:xfrm>
            <a:off x="2536371" y="729344"/>
            <a:ext cx="632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Normalization up to 3NF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AE10F-BC1C-7D17-E173-8C64BF3B8AAF}"/>
              </a:ext>
            </a:extLst>
          </p:cNvPr>
          <p:cNvSpPr txBox="1"/>
          <p:nvPr/>
        </p:nvSpPr>
        <p:spPr>
          <a:xfrm>
            <a:off x="239486" y="1375675"/>
            <a:ext cx="10798628" cy="536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1NF – First Normal Form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Each table contains </a:t>
            </a:r>
            <a:r>
              <a:rPr lang="en-IN" sz="1600" b="1" dirty="0"/>
              <a:t>atomic (single) values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No repeating groups or multi-valued attributes.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Each record is uniquely identified using a </a:t>
            </a:r>
            <a:r>
              <a:rPr lang="en-IN" sz="1600" b="1" dirty="0"/>
              <a:t>Primary Key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Example: </a:t>
            </a:r>
            <a:r>
              <a:rPr lang="en-IN" sz="1600" dirty="0">
                <a:latin typeface="+mn-lt"/>
              </a:rPr>
              <a:t>ORDER_ITEM</a:t>
            </a:r>
            <a:r>
              <a:rPr lang="en-IN" sz="1600" dirty="0"/>
              <a:t> stores one product entry per order item. </a:t>
            </a:r>
          </a:p>
          <a:p>
            <a:pPr>
              <a:buNone/>
            </a:pPr>
            <a:r>
              <a:rPr lang="en-IN" sz="1600" b="1" dirty="0"/>
              <a:t>2NF – Second Normal Form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The database is already in </a:t>
            </a:r>
            <a:r>
              <a:rPr lang="en-IN" sz="1600" b="1" dirty="0"/>
              <a:t>1NF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Non-key attributes depend on the </a:t>
            </a:r>
            <a:r>
              <a:rPr lang="en-IN" sz="1600" b="1" dirty="0"/>
              <a:t>whole primary key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Product details are separated into </a:t>
            </a:r>
            <a:r>
              <a:rPr lang="en-IN" sz="1600" dirty="0">
                <a:latin typeface="+mn-lt"/>
              </a:rPr>
              <a:t>PRODUCT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Customer details are separated into </a:t>
            </a:r>
            <a:r>
              <a:rPr lang="en-IN" sz="1600" dirty="0">
                <a:latin typeface="+mn-lt"/>
              </a:rPr>
              <a:t>CUSTOMER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Order details are separated into </a:t>
            </a:r>
            <a:r>
              <a:rPr lang="en-IN" sz="1600" dirty="0">
                <a:latin typeface="+mn-lt"/>
              </a:rPr>
              <a:t>ORDER</a:t>
            </a:r>
            <a:r>
              <a:rPr lang="en-IN" sz="1600" dirty="0"/>
              <a:t>. </a:t>
            </a:r>
          </a:p>
          <a:p>
            <a:pPr>
              <a:buNone/>
            </a:pPr>
            <a:r>
              <a:rPr lang="en-IN" sz="1600" b="1" dirty="0"/>
              <a:t>3NF – Third Normal Form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The database is already in </a:t>
            </a:r>
            <a:r>
              <a:rPr lang="en-IN" sz="1600" b="1" dirty="0"/>
              <a:t>2NF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Non-key attributes depend only on the </a:t>
            </a:r>
            <a:r>
              <a:rPr lang="en-IN" sz="1600" b="1" dirty="0"/>
              <a:t>primary key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Category information is stored separately in </a:t>
            </a:r>
            <a:r>
              <a:rPr lang="en-IN" sz="1600" dirty="0">
                <a:latin typeface="+mn-lt"/>
              </a:rPr>
              <a:t>CATEGORY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Payment information is stored in </a:t>
            </a:r>
            <a:r>
              <a:rPr lang="en-IN" sz="1600" dirty="0">
                <a:latin typeface="+mn-lt"/>
              </a:rPr>
              <a:t>PAYMENT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Delivery information is stored in </a:t>
            </a:r>
            <a:r>
              <a:rPr lang="en-IN" sz="1600" dirty="0">
                <a:latin typeface="+mn-lt"/>
              </a:rPr>
              <a:t>DELIVERY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This reduces </a:t>
            </a:r>
            <a:r>
              <a:rPr lang="en-IN" sz="1600" b="1" dirty="0"/>
              <a:t>data redundancy</a:t>
            </a:r>
            <a:r>
              <a:rPr lang="en-IN" sz="1600" dirty="0"/>
              <a:t> and improves </a:t>
            </a:r>
            <a:r>
              <a:rPr lang="en-IN" sz="1600" b="1" dirty="0"/>
              <a:t>data consistency</a:t>
            </a:r>
            <a:r>
              <a:rPr lang="en-IN" sz="1600" dirty="0"/>
              <a:t>. </a:t>
            </a:r>
          </a:p>
          <a:p>
            <a:pPr>
              <a:buNone/>
            </a:pPr>
            <a:r>
              <a:rPr lang="en-IN" sz="1600" b="1" dirty="0"/>
              <a:t>Final Statement</a:t>
            </a:r>
          </a:p>
          <a:p>
            <a:pPr>
              <a:buNone/>
            </a:pPr>
            <a:r>
              <a:rPr lang="en-IN" sz="1600" b="1" dirty="0"/>
              <a:t>The proposed database is normalized up to 3NF by separating customer, category, product, order, order-item, payment, and delivery information into related tables using primary and foreign keys.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01840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DB534-7329-529A-F229-4069F1BE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36372" cy="988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F29FBA-325C-064F-9CFA-E746A244159A}"/>
              </a:ext>
            </a:extLst>
          </p:cNvPr>
          <p:cNvSpPr txBox="1"/>
          <p:nvPr/>
        </p:nvSpPr>
        <p:spPr>
          <a:xfrm>
            <a:off x="2721429" y="988108"/>
            <a:ext cx="696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IN" sz="3600" dirty="0"/>
              <a:t>SQL Implementation – DDL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3E6FC-77F4-2E1E-B2B1-D60F64E3E5EA}"/>
              </a:ext>
            </a:extLst>
          </p:cNvPr>
          <p:cNvSpPr txBox="1"/>
          <p:nvPr/>
        </p:nvSpPr>
        <p:spPr>
          <a:xfrm>
            <a:off x="381000" y="1847281"/>
            <a:ext cx="608511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DDL Commands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CREATE TABLE</a:t>
            </a:r>
            <a:r>
              <a:rPr lang="en-IN" sz="2400" dirty="0"/>
              <a:t> – Creates the database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PRIMARY KEY</a:t>
            </a:r>
            <a:r>
              <a:rPr lang="en-IN" sz="2400" dirty="0"/>
              <a:t> – Uniquely identifies each record.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FOREIGN KEY</a:t>
            </a:r>
            <a:r>
              <a:rPr lang="en-IN" sz="2400" dirty="0"/>
              <a:t> – Establishes relationships between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NOT NULL</a:t>
            </a:r>
            <a:r>
              <a:rPr lang="en-IN" sz="2400" dirty="0"/>
              <a:t> – Ensures required fields contain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UNIQUE</a:t>
            </a:r>
            <a:r>
              <a:rPr lang="en-IN" sz="2400" dirty="0"/>
              <a:t> – Prevents duplicate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CHECK</a:t>
            </a:r>
            <a:r>
              <a:rPr lang="en-IN" sz="2400" dirty="0"/>
              <a:t> – Validates values based on conditions.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F4AE1-D229-1225-3449-9F776638B33E}"/>
              </a:ext>
            </a:extLst>
          </p:cNvPr>
          <p:cNvSpPr txBox="1"/>
          <p:nvPr/>
        </p:nvSpPr>
        <p:spPr>
          <a:xfrm>
            <a:off x="6629400" y="1847281"/>
            <a:ext cx="497477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Tables Created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+mn-lt"/>
              </a:rPr>
              <a:t>CUSTOMER</a:t>
            </a:r>
            <a:r>
              <a:rPr lang="en-IN" sz="32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+mn-lt"/>
              </a:rPr>
              <a:t>CATEGORY</a:t>
            </a:r>
            <a:r>
              <a:rPr lang="en-IN" sz="32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+mn-lt"/>
              </a:rPr>
              <a:t>PRODUCT</a:t>
            </a:r>
            <a:r>
              <a:rPr lang="en-IN" sz="32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+mn-lt"/>
              </a:rPr>
              <a:t>ORDER</a:t>
            </a:r>
            <a:r>
              <a:rPr lang="en-IN" sz="32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+mn-lt"/>
              </a:rPr>
              <a:t>ORDER_ITEM</a:t>
            </a:r>
            <a:r>
              <a:rPr lang="en-IN" sz="32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+mn-lt"/>
              </a:rPr>
              <a:t>PAYMENT</a:t>
            </a:r>
            <a:r>
              <a:rPr lang="en-IN" sz="3200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+mn-lt"/>
              </a:rPr>
              <a:t>DELIVERY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6071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F95724-1891-7D5E-B31E-116A5F3E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220686" cy="796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15C318-7246-D7E0-AA7F-AA37729099DA}"/>
              </a:ext>
            </a:extLst>
          </p:cNvPr>
          <p:cNvSpPr txBox="1"/>
          <p:nvPr/>
        </p:nvSpPr>
        <p:spPr>
          <a:xfrm>
            <a:off x="228600" y="796735"/>
            <a:ext cx="105918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CREATE TABLE CUSTOMER (</a:t>
            </a:r>
          </a:p>
          <a:p>
            <a:r>
              <a:rPr lang="en-IN" b="1" dirty="0"/>
              <a:t>    CUSTOMER_ID INT PRIMARY KEY,</a:t>
            </a:r>
          </a:p>
          <a:p>
            <a:r>
              <a:rPr lang="en-IN" b="1" dirty="0"/>
              <a:t>    CUSTOMER_NAME VARCHAR(100) NOT NULL,</a:t>
            </a:r>
          </a:p>
          <a:p>
            <a:r>
              <a:rPr lang="en-IN" b="1" dirty="0"/>
              <a:t>    Email VARCHAR(100) UNIQUE,</a:t>
            </a:r>
          </a:p>
          <a:p>
            <a:r>
              <a:rPr lang="en-IN" b="1" dirty="0"/>
              <a:t>    Phone VARCHAR(15),</a:t>
            </a:r>
          </a:p>
          <a:p>
            <a:r>
              <a:rPr lang="en-IN" b="1" dirty="0"/>
              <a:t>    Address VARCHAR(200)</a:t>
            </a:r>
          </a:p>
          <a:p>
            <a:r>
              <a:rPr lang="en-IN" b="1" dirty="0"/>
              <a:t>);</a:t>
            </a:r>
          </a:p>
          <a:p>
            <a:endParaRPr lang="en-IN" b="1" dirty="0"/>
          </a:p>
          <a:p>
            <a:r>
              <a:rPr lang="en-IN" b="1" dirty="0"/>
              <a:t>CREATE TABLE CATEGORY (</a:t>
            </a:r>
          </a:p>
          <a:p>
            <a:r>
              <a:rPr lang="en-IN" b="1" dirty="0"/>
              <a:t>    CATEGORY_ID INT PRIMARY KEY,</a:t>
            </a:r>
          </a:p>
          <a:p>
            <a:r>
              <a:rPr lang="en-IN" b="1" dirty="0"/>
              <a:t>    CATEGORY_NAME VARCHAR(100) NOT NULL,</a:t>
            </a:r>
          </a:p>
          <a:p>
            <a:r>
              <a:rPr lang="en-IN" b="1" dirty="0"/>
              <a:t>    Description VARCHAR(200)</a:t>
            </a:r>
          </a:p>
          <a:p>
            <a:r>
              <a:rPr lang="en-IN" b="1" dirty="0"/>
              <a:t>);</a:t>
            </a:r>
          </a:p>
          <a:p>
            <a:r>
              <a:rPr lang="en-IN" b="1" dirty="0"/>
              <a:t>CREATE TABLE PRODUCT (</a:t>
            </a:r>
          </a:p>
          <a:p>
            <a:r>
              <a:rPr lang="en-IN" b="1" dirty="0"/>
              <a:t>    PRODUCT_ID INT PRIMARY KEY,</a:t>
            </a:r>
          </a:p>
          <a:p>
            <a:r>
              <a:rPr lang="en-IN" b="1" dirty="0"/>
              <a:t>    PRODUCT_NAME VARCHAR(100) NOT NULL,</a:t>
            </a:r>
          </a:p>
          <a:p>
            <a:r>
              <a:rPr lang="en-IN" b="1" dirty="0"/>
              <a:t>    Price DECIMAL(10,2) CHECK (Price &gt; 0),</a:t>
            </a:r>
          </a:p>
          <a:p>
            <a:r>
              <a:rPr lang="en-IN" b="1" dirty="0"/>
              <a:t>    STOCK_QUANTITY INT CHECK (STOCK_QUANTITY &gt;= 0),</a:t>
            </a:r>
          </a:p>
          <a:p>
            <a:r>
              <a:rPr lang="en-IN" b="1" dirty="0"/>
              <a:t>    CATEGORY_ID INT,</a:t>
            </a:r>
          </a:p>
          <a:p>
            <a:r>
              <a:rPr lang="en-IN" b="1" dirty="0"/>
              <a:t>    FOREIGN KEY (CATEGORY_ID) REFERENCES CATEGORY(CATEGORY_ID)</a:t>
            </a:r>
          </a:p>
          <a:p>
            <a:r>
              <a:rPr lang="en-IN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3298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ABC9A-60EA-0D7D-74DC-934ECF6E2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4600" cy="902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0E079-ECC7-B472-6A86-4FED842E2CD5}"/>
              </a:ext>
            </a:extLst>
          </p:cNvPr>
          <p:cNvSpPr txBox="1"/>
          <p:nvPr/>
        </p:nvSpPr>
        <p:spPr>
          <a:xfrm>
            <a:off x="2612571" y="1023257"/>
            <a:ext cx="653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IN" sz="3600" dirty="0"/>
              <a:t>SQL Implementation – DML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AD0B9-00E9-08AF-6271-5BFF7627E0F5}"/>
              </a:ext>
            </a:extLst>
          </p:cNvPr>
          <p:cNvSpPr txBox="1"/>
          <p:nvPr/>
        </p:nvSpPr>
        <p:spPr>
          <a:xfrm>
            <a:off x="500743" y="1937657"/>
            <a:ext cx="86432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/>
              <a:t>DML Commands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000" b="1" dirty="0"/>
              <a:t>INSERT</a:t>
            </a:r>
            <a:r>
              <a:rPr lang="en-IN" sz="3000" dirty="0"/>
              <a:t> – Add customer, category, product, order, payment, and delivery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000" b="1" dirty="0"/>
              <a:t>UPDATE</a:t>
            </a:r>
            <a:r>
              <a:rPr lang="en-IN" sz="3000" dirty="0"/>
              <a:t> – Modify product stock, order status, payment status, or delivery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000" b="1" dirty="0"/>
              <a:t>DELETE</a:t>
            </a:r>
            <a:r>
              <a:rPr lang="en-IN" sz="3000" dirty="0"/>
              <a:t> – Remove records when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000" b="1" dirty="0"/>
              <a:t>SELECT</a:t>
            </a:r>
            <a:r>
              <a:rPr lang="en-IN" sz="3000" dirty="0"/>
              <a:t> – Retrieve customer, product, order, payment, and delivery information.</a:t>
            </a:r>
          </a:p>
        </p:txBody>
      </p:sp>
    </p:spTree>
    <p:extLst>
      <p:ext uri="{BB962C8B-B14F-4D97-AF65-F5344CB8AC3E}">
        <p14:creationId xmlns:p14="http://schemas.microsoft.com/office/powerpoint/2010/main" val="684413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D945-D076-6E51-D33C-EE09C7BD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3D054-4D97-9AE5-D14B-C25324A0E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4600" cy="9021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C01798-0070-35B8-4693-7BA70A87859F}"/>
              </a:ext>
            </a:extLst>
          </p:cNvPr>
          <p:cNvSpPr txBox="1"/>
          <p:nvPr/>
        </p:nvSpPr>
        <p:spPr>
          <a:xfrm>
            <a:off x="2514601" y="767403"/>
            <a:ext cx="662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IN" sz="3600" dirty="0"/>
              <a:t>SQL Implementation – DML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28DA9-2261-0285-F3C9-B1111E50B9E2}"/>
              </a:ext>
            </a:extLst>
          </p:cNvPr>
          <p:cNvSpPr txBox="1"/>
          <p:nvPr/>
        </p:nvSpPr>
        <p:spPr>
          <a:xfrm>
            <a:off x="304800" y="1328057"/>
            <a:ext cx="1090748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-- Insert customer</a:t>
            </a:r>
          </a:p>
          <a:p>
            <a:pPr>
              <a:buNone/>
            </a:pPr>
            <a:r>
              <a:rPr lang="en-IN" sz="1200" b="1" dirty="0"/>
              <a:t>INSERT INTO CUSTOMER</a:t>
            </a:r>
          </a:p>
          <a:p>
            <a:pPr>
              <a:buNone/>
            </a:pPr>
            <a:r>
              <a:rPr lang="en-IN" sz="1200" b="1" dirty="0"/>
              <a:t>VALUES (1, ‘</a:t>
            </a:r>
            <a:r>
              <a:rPr lang="en-IN" sz="1200" b="1" dirty="0" err="1"/>
              <a:t>ravi</a:t>
            </a:r>
            <a:r>
              <a:rPr lang="en-IN" sz="1200" b="1" dirty="0"/>
              <a:t>', ‘ravi@gmail.com', '9876543210', 'Hyderabad');</a:t>
            </a:r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-- Insert category</a:t>
            </a:r>
          </a:p>
          <a:p>
            <a:pPr>
              <a:buNone/>
            </a:pPr>
            <a:r>
              <a:rPr lang="en-IN" sz="1200" b="1" dirty="0"/>
              <a:t>INSERT INTO CATEGORY</a:t>
            </a:r>
          </a:p>
          <a:p>
            <a:pPr>
              <a:buNone/>
            </a:pPr>
            <a:r>
              <a:rPr lang="en-IN" sz="1200" b="1" dirty="0"/>
              <a:t>VALUES (101, 'Electronics', 'Electronic Products');</a:t>
            </a:r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-- Insert product</a:t>
            </a:r>
          </a:p>
          <a:p>
            <a:pPr>
              <a:buNone/>
            </a:pPr>
            <a:r>
              <a:rPr lang="en-IN" sz="1200" b="1" dirty="0"/>
              <a:t>INSERT INTO PRODUCT</a:t>
            </a:r>
          </a:p>
          <a:p>
            <a:pPr>
              <a:buNone/>
            </a:pPr>
            <a:r>
              <a:rPr lang="en-IN" sz="1200" b="1" dirty="0"/>
              <a:t>VALUES (201, 'Headphones', 1500.00, 20, 101);</a:t>
            </a:r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-- Update product stock</a:t>
            </a:r>
          </a:p>
          <a:p>
            <a:pPr>
              <a:buNone/>
            </a:pPr>
            <a:r>
              <a:rPr lang="en-IN" sz="1200" b="1" dirty="0"/>
              <a:t>UPDATE PRODUCT</a:t>
            </a:r>
          </a:p>
          <a:p>
            <a:pPr>
              <a:buNone/>
            </a:pPr>
            <a:r>
              <a:rPr lang="en-IN" sz="1200" b="1" dirty="0"/>
              <a:t>SET STOCK_QUANTITY = 19</a:t>
            </a:r>
          </a:p>
          <a:p>
            <a:pPr>
              <a:buNone/>
            </a:pPr>
            <a:r>
              <a:rPr lang="en-IN" sz="1200" b="1" dirty="0"/>
              <a:t>WHERE PRODUCT_ID = 201;</a:t>
            </a:r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-- Update order status</a:t>
            </a:r>
          </a:p>
          <a:p>
            <a:pPr>
              <a:buNone/>
            </a:pPr>
            <a:r>
              <a:rPr lang="en-IN" sz="1200" b="1" dirty="0"/>
              <a:t>UPDATE `ORDER`</a:t>
            </a:r>
          </a:p>
          <a:p>
            <a:pPr>
              <a:buNone/>
            </a:pPr>
            <a:r>
              <a:rPr lang="en-IN" sz="1200" b="1" dirty="0"/>
              <a:t>SET ORDER_STATUS = 'Shipped'</a:t>
            </a:r>
          </a:p>
          <a:p>
            <a:pPr>
              <a:buNone/>
            </a:pPr>
            <a:r>
              <a:rPr lang="en-IN" sz="1200" b="1" dirty="0"/>
              <a:t>WHERE ORDER_ID = 301;</a:t>
            </a:r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-- Retrieve orders</a:t>
            </a:r>
          </a:p>
          <a:p>
            <a:pPr>
              <a:buNone/>
            </a:pPr>
            <a:r>
              <a:rPr lang="en-IN" sz="1200" b="1" dirty="0"/>
              <a:t>SELECT * FROM `ORDER`;</a:t>
            </a:r>
          </a:p>
          <a:p>
            <a:pPr>
              <a:buNone/>
            </a:pPr>
            <a:endParaRPr lang="en-IN" sz="1200" b="1" dirty="0"/>
          </a:p>
          <a:p>
            <a:pPr>
              <a:buNone/>
            </a:pPr>
            <a:r>
              <a:rPr lang="en-IN" sz="1200" b="1" dirty="0"/>
              <a:t>-- Delete a product</a:t>
            </a:r>
          </a:p>
          <a:p>
            <a:pPr>
              <a:buNone/>
            </a:pPr>
            <a:r>
              <a:rPr lang="en-IN" sz="1200" b="1" dirty="0"/>
              <a:t>DELETE FROM PRODUCT</a:t>
            </a:r>
          </a:p>
          <a:p>
            <a:pPr>
              <a:buNone/>
            </a:pPr>
            <a:r>
              <a:rPr lang="en-IN" sz="1200" b="1" dirty="0"/>
              <a:t>WHERE PRODUCT_ID = 201;</a:t>
            </a:r>
          </a:p>
        </p:txBody>
      </p:sp>
    </p:spTree>
    <p:extLst>
      <p:ext uri="{BB962C8B-B14F-4D97-AF65-F5344CB8AC3E}">
        <p14:creationId xmlns:p14="http://schemas.microsoft.com/office/powerpoint/2010/main" val="239496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07844C-4377-A3C6-F5E4-C441143E4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2829" cy="910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10D4D4-BFB7-45D8-6A5A-3D8C3BD28C31}"/>
              </a:ext>
            </a:extLst>
          </p:cNvPr>
          <p:cNvSpPr txBox="1"/>
          <p:nvPr/>
        </p:nvSpPr>
        <p:spPr>
          <a:xfrm>
            <a:off x="3799114" y="1066800"/>
            <a:ext cx="4506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/>
              <a:t>DQL – Data Retrieval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9DCD17-655A-C216-3138-2AE97973FFFF}"/>
              </a:ext>
            </a:extLst>
          </p:cNvPr>
          <p:cNvSpPr txBox="1"/>
          <p:nvPr/>
        </p:nvSpPr>
        <p:spPr>
          <a:xfrm>
            <a:off x="653143" y="2307770"/>
            <a:ext cx="84908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Filter</a:t>
            </a:r>
            <a:r>
              <a:rPr lang="en-IN" sz="2400" dirty="0"/>
              <a:t> records using </a:t>
            </a:r>
            <a:r>
              <a:rPr lang="en-IN" sz="2400" dirty="0">
                <a:latin typeface="+mn-lt"/>
              </a:rPr>
              <a:t>WHERE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SELECT</a:t>
            </a:r>
            <a:r>
              <a:rPr lang="en-IN" sz="2400" dirty="0"/>
              <a:t> records from project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Sort</a:t>
            </a:r>
            <a:r>
              <a:rPr lang="en-IN" sz="2400" dirty="0"/>
              <a:t> records using </a:t>
            </a:r>
            <a:r>
              <a:rPr lang="en-IN" sz="2400" dirty="0">
                <a:latin typeface="+mn-lt"/>
              </a:rPr>
              <a:t>ORDER BY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dirty="0">
                <a:latin typeface="+mn-lt"/>
              </a:rPr>
              <a:t>DISTINCT</a:t>
            </a:r>
            <a:r>
              <a:rPr lang="en-IN" sz="2400" dirty="0"/>
              <a:t>, </a:t>
            </a:r>
            <a:r>
              <a:rPr lang="en-IN" sz="2400" dirty="0">
                <a:latin typeface="+mn-lt"/>
              </a:rPr>
              <a:t>LIKE</a:t>
            </a:r>
            <a:r>
              <a:rPr lang="en-IN" sz="2400" dirty="0"/>
              <a:t>, </a:t>
            </a:r>
            <a:r>
              <a:rPr lang="en-IN" sz="2400" dirty="0">
                <a:latin typeface="+mn-lt"/>
              </a:rPr>
              <a:t>IS NULL / IS NOT NULL</a:t>
            </a:r>
            <a:r>
              <a:rPr lang="en-IN" sz="2400" dirty="0"/>
              <a:t> where relevant.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Retrieve only the </a:t>
            </a:r>
            <a:r>
              <a:rPr lang="en-IN" sz="2400" b="1" dirty="0"/>
              <a:t>required columns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b="1" dirty="0"/>
              <a:t>JOIN</a:t>
            </a:r>
            <a:r>
              <a:rPr lang="en-IN" sz="2400" dirty="0"/>
              <a:t> to retrieve data from related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Frame queries as meaningful </a:t>
            </a:r>
            <a:r>
              <a:rPr lang="en-IN" sz="2400" b="1" dirty="0"/>
              <a:t>E-Commerce order management questions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74081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A8C5DB-9CA7-3BF7-3FEA-F0D202F85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457624" cy="8817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D2B20B-5D3E-E7E3-3CE8-D0C845C7EBBA}"/>
              </a:ext>
            </a:extLst>
          </p:cNvPr>
          <p:cNvSpPr txBox="1"/>
          <p:nvPr/>
        </p:nvSpPr>
        <p:spPr>
          <a:xfrm>
            <a:off x="4256315" y="881743"/>
            <a:ext cx="39297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SQL Queries – Joins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842AD9-2C6D-FEFA-5E57-B809FF751383}"/>
              </a:ext>
            </a:extLst>
          </p:cNvPr>
          <p:cNvSpPr txBox="1"/>
          <p:nvPr/>
        </p:nvSpPr>
        <p:spPr>
          <a:xfrm>
            <a:off x="457200" y="1828800"/>
            <a:ext cx="8686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 </a:t>
            </a:r>
            <a:r>
              <a:rPr lang="en-IN" sz="2000" b="1" dirty="0"/>
              <a:t>INNER JOIN</a:t>
            </a:r>
            <a:r>
              <a:rPr lang="en-IN" sz="2000" dirty="0"/>
              <a:t> to combine matching records from related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Join </a:t>
            </a:r>
            <a:r>
              <a:rPr lang="en-IN" sz="2000" b="1" dirty="0"/>
              <a:t>CUSTOMER</a:t>
            </a:r>
            <a:r>
              <a:rPr lang="en-IN" sz="2000" dirty="0"/>
              <a:t> and </a:t>
            </a:r>
            <a:r>
              <a:rPr lang="en-IN" sz="2000" b="1" dirty="0"/>
              <a:t>ORDER</a:t>
            </a:r>
            <a:r>
              <a:rPr lang="en-IN" sz="2000" dirty="0"/>
              <a:t> using </a:t>
            </a:r>
            <a:r>
              <a:rPr lang="en-IN" sz="2000" dirty="0">
                <a:latin typeface="+mn-lt"/>
              </a:rPr>
              <a:t>CUSTOMER_ID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Join </a:t>
            </a:r>
            <a:r>
              <a:rPr lang="en-IN" sz="2000" b="1" dirty="0"/>
              <a:t>PRODUCT</a:t>
            </a:r>
            <a:r>
              <a:rPr lang="en-IN" sz="2000" dirty="0"/>
              <a:t> and </a:t>
            </a:r>
            <a:r>
              <a:rPr lang="en-IN" sz="2000" b="1" dirty="0"/>
              <a:t>CATEGORY</a:t>
            </a:r>
            <a:r>
              <a:rPr lang="en-IN" sz="2000" dirty="0"/>
              <a:t> using </a:t>
            </a:r>
            <a:r>
              <a:rPr lang="en-IN" sz="2000" dirty="0">
                <a:latin typeface="+mn-lt"/>
              </a:rPr>
              <a:t>CATEGORY_ID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Join </a:t>
            </a:r>
            <a:r>
              <a:rPr lang="en-IN" sz="2000" b="1" dirty="0"/>
              <a:t>ORDER</a:t>
            </a:r>
            <a:r>
              <a:rPr lang="en-IN" sz="2000" dirty="0"/>
              <a:t> and </a:t>
            </a:r>
            <a:r>
              <a:rPr lang="en-IN" sz="2000" b="1" dirty="0"/>
              <a:t>ORDER_ITEM</a:t>
            </a:r>
            <a:r>
              <a:rPr lang="en-IN" sz="2000" dirty="0"/>
              <a:t> using </a:t>
            </a:r>
            <a:r>
              <a:rPr lang="en-IN" sz="2000" dirty="0">
                <a:latin typeface="+mn-lt"/>
              </a:rPr>
              <a:t>ORDER_ID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Join </a:t>
            </a:r>
            <a:r>
              <a:rPr lang="en-IN" sz="2000" b="1" dirty="0"/>
              <a:t>ORDER_ITEM</a:t>
            </a:r>
            <a:r>
              <a:rPr lang="en-IN" sz="2000" dirty="0"/>
              <a:t> and </a:t>
            </a:r>
            <a:r>
              <a:rPr lang="en-IN" sz="2000" b="1" dirty="0"/>
              <a:t>PRODUCT</a:t>
            </a:r>
            <a:r>
              <a:rPr lang="en-IN" sz="2000" dirty="0"/>
              <a:t> using </a:t>
            </a:r>
            <a:r>
              <a:rPr lang="en-IN" sz="2000" dirty="0">
                <a:latin typeface="+mn-lt"/>
              </a:rPr>
              <a:t>PRODUCT_ID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Join </a:t>
            </a:r>
            <a:r>
              <a:rPr lang="en-IN" sz="2000" b="1" dirty="0"/>
              <a:t>ORDER</a:t>
            </a:r>
            <a:r>
              <a:rPr lang="en-IN" sz="2000" dirty="0"/>
              <a:t> with </a:t>
            </a:r>
            <a:r>
              <a:rPr lang="en-IN" sz="2000" b="1" dirty="0"/>
              <a:t>PAYMENT</a:t>
            </a:r>
            <a:r>
              <a:rPr lang="en-IN" sz="2000" dirty="0"/>
              <a:t> and </a:t>
            </a:r>
            <a:r>
              <a:rPr lang="en-IN" sz="2000" b="1" dirty="0"/>
              <a:t>DELIVERY</a:t>
            </a:r>
            <a:r>
              <a:rPr lang="en-IN" sz="2000" dirty="0"/>
              <a:t> using </a:t>
            </a:r>
            <a:r>
              <a:rPr lang="en-IN" sz="2000" dirty="0">
                <a:latin typeface="+mn-lt"/>
              </a:rPr>
              <a:t>ORDER_ID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 joins to retrieve complete </a:t>
            </a:r>
            <a:r>
              <a:rPr lang="en-IN" sz="2000" b="1" dirty="0"/>
              <a:t>customer, product, order, payment, and delivery information</a:t>
            </a:r>
            <a:r>
              <a:rPr lang="en-IN" sz="20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7AFBCF-6747-BE5E-EC16-497BBE5BE062}"/>
              </a:ext>
            </a:extLst>
          </p:cNvPr>
          <p:cNvSpPr txBox="1"/>
          <p:nvPr/>
        </p:nvSpPr>
        <p:spPr>
          <a:xfrm>
            <a:off x="604157" y="4453239"/>
            <a:ext cx="56170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SELECT C.CUSTOMER_NAME, O.ORDER_ID, O.ORDER_DATE, O.TOTAL_AMOUNT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FROM CUSTOMER C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JOIN `ORDER` O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ON C.CUSTOMER_ID = O.CUSTOMER_ID;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45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8B3DC-873C-E06B-1F20-D26F22593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8305" cy="903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65BBDA-1AB0-D6B3-3118-C56780E45A5A}"/>
              </a:ext>
            </a:extLst>
          </p:cNvPr>
          <p:cNvSpPr txBox="1"/>
          <p:nvPr/>
        </p:nvSpPr>
        <p:spPr>
          <a:xfrm>
            <a:off x="2917371" y="816428"/>
            <a:ext cx="571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SQL Queries – Aggregate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6B58E-2AA7-7D79-E04B-5B24E6F60ED1}"/>
              </a:ext>
            </a:extLst>
          </p:cNvPr>
          <p:cNvSpPr txBox="1"/>
          <p:nvPr/>
        </p:nvSpPr>
        <p:spPr>
          <a:xfrm>
            <a:off x="402771" y="1600200"/>
            <a:ext cx="87412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COUNT() to count customers, products, or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SUM() to calculate total order amounts or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AVG() to calculate the average order amount or product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MAX() to find the highest order amount or product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MIN() to find the lowest order amount or product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GROUP BY to generate category-wise or status-wise summaries.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 HAVING to filter grouped results. </a:t>
            </a:r>
          </a:p>
          <a:p>
            <a:pPr lvl="0"/>
            <a:endParaRPr lang="en-IN" sz="2400" dirty="0"/>
          </a:p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US" dirty="0"/>
              <a:t>SELECT ORDER_STATUS, COUNT(*) AS </a:t>
            </a:r>
            <a:r>
              <a:rPr lang="en-US" dirty="0" err="1"/>
              <a:t>Total_Orders</a:t>
            </a:r>
            <a:endParaRPr lang="en-US" dirty="0"/>
          </a:p>
          <a:p>
            <a:pPr>
              <a:buNone/>
            </a:pPr>
            <a:r>
              <a:rPr lang="en-US" dirty="0"/>
              <a:t>FROM `ORDER`</a:t>
            </a:r>
          </a:p>
          <a:p>
            <a:pPr>
              <a:buNone/>
            </a:pPr>
            <a:r>
              <a:rPr lang="en-US" dirty="0"/>
              <a:t>GROUP BY ORDER_STATUS;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081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3FA25-5259-5426-C427-AEB8022B4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6886" cy="8240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717A67-C5D9-110F-4AFE-7DEA01552049}"/>
              </a:ext>
            </a:extLst>
          </p:cNvPr>
          <p:cNvSpPr txBox="1"/>
          <p:nvPr/>
        </p:nvSpPr>
        <p:spPr>
          <a:xfrm>
            <a:off x="4191000" y="824075"/>
            <a:ext cx="3494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IN" sz="3200" dirty="0"/>
              <a:t>CRUD Operations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F29F7C-2660-48DB-1A87-B3B0E26F8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662402"/>
              </p:ext>
            </p:extLst>
          </p:nvPr>
        </p:nvGraphicFramePr>
        <p:xfrm>
          <a:off x="925287" y="1807029"/>
          <a:ext cx="10287000" cy="400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94349722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541819285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805175498"/>
                    </a:ext>
                  </a:extLst>
                </a:gridCol>
              </a:tblGrid>
              <a:tr h="660371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Command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872881"/>
                  </a:ext>
                </a:extLst>
              </a:tr>
              <a:tr h="874246">
                <a:tc>
                  <a:txBody>
                    <a:bodyPr/>
                    <a:lstStyle/>
                    <a:p>
                      <a:r>
                        <a:rPr lang="en-US" dirty="0"/>
                        <a:t>Create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INSERT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a new product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231316"/>
                  </a:ext>
                </a:extLst>
              </a:tr>
              <a:tr h="874246">
                <a:tc>
                  <a:txBody>
                    <a:bodyPr/>
                    <a:lstStyle/>
                    <a:p>
                      <a:r>
                        <a:rPr lang="en-US" dirty="0"/>
                        <a:t>Read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SELECT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order details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80995"/>
                  </a:ext>
                </a:extLst>
              </a:tr>
              <a:tr h="874246"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UPDATE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Change order status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46"/>
                  </a:ext>
                </a:extLst>
              </a:tr>
              <a:tr h="719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Delete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DELETE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Remove a 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09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09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EEECA4-FD12-239B-B0E1-B8621FAA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2" y="-1"/>
            <a:ext cx="2487965" cy="892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693B17-E4C9-D19D-9DDA-FAD801E65D41}"/>
              </a:ext>
            </a:extLst>
          </p:cNvPr>
          <p:cNvSpPr txBox="1"/>
          <p:nvPr/>
        </p:nvSpPr>
        <p:spPr>
          <a:xfrm>
            <a:off x="5083628" y="892628"/>
            <a:ext cx="1502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Views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685FB-2BE0-A205-9B5B-52C02E34188F}"/>
              </a:ext>
            </a:extLst>
          </p:cNvPr>
          <p:cNvSpPr txBox="1"/>
          <p:nvPr/>
        </p:nvSpPr>
        <p:spPr>
          <a:xfrm>
            <a:off x="446314" y="1687286"/>
            <a:ext cx="869768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 </a:t>
            </a:r>
            <a:r>
              <a:rPr lang="en-IN" sz="2000" b="1" dirty="0"/>
              <a:t>Views</a:t>
            </a:r>
            <a:r>
              <a:rPr lang="en-IN" sz="2000" dirty="0"/>
              <a:t> to display frequently required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 views to combine data from related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 an </a:t>
            </a:r>
            <a:r>
              <a:rPr lang="en-IN" sz="2000" b="1" dirty="0"/>
              <a:t>Order Details View</a:t>
            </a:r>
            <a:r>
              <a:rPr lang="en-IN" sz="2000" dirty="0"/>
              <a:t> to display customer and order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 a </a:t>
            </a:r>
            <a:r>
              <a:rPr lang="en-IN" sz="2000" b="1" dirty="0"/>
              <a:t>Product Details View</a:t>
            </a:r>
            <a:r>
              <a:rPr lang="en-IN" sz="2000" dirty="0"/>
              <a:t> to display product and category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 a </a:t>
            </a:r>
            <a:r>
              <a:rPr lang="en-IN" sz="2000" b="1" dirty="0"/>
              <a:t>Payment &amp; Delivery View</a:t>
            </a:r>
            <a:r>
              <a:rPr lang="en-IN" sz="2000" dirty="0"/>
              <a:t> to display order payment and delivery status.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Views simplify </a:t>
            </a:r>
            <a:r>
              <a:rPr lang="en-IN" sz="2000" b="1" dirty="0"/>
              <a:t>data retrieval</a:t>
            </a:r>
            <a:r>
              <a:rPr lang="en-IN" sz="2000" dirty="0"/>
              <a:t> and improve database usability. </a:t>
            </a:r>
          </a:p>
          <a:p>
            <a:pPr>
              <a:buNone/>
            </a:pPr>
            <a:r>
              <a:rPr lang="en-IN" sz="2400" b="1" dirty="0"/>
              <a:t>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A87A9-D7BA-B111-2734-308E59F531B6}"/>
              </a:ext>
            </a:extLst>
          </p:cNvPr>
          <p:cNvSpPr txBox="1"/>
          <p:nvPr/>
        </p:nvSpPr>
        <p:spPr>
          <a:xfrm>
            <a:off x="914400" y="430338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VIEW Order _ Details AS</a:t>
            </a:r>
          </a:p>
          <a:p>
            <a:r>
              <a:rPr lang="en-IN" dirty="0"/>
              <a:t>SELECT C.CUSTOMER_NAME, O.ORDER_ID,</a:t>
            </a:r>
          </a:p>
          <a:p>
            <a:r>
              <a:rPr lang="en-IN" dirty="0"/>
              <a:t>       O.ORDER_DATE, O.TOTAL_AMOUNT,</a:t>
            </a:r>
          </a:p>
          <a:p>
            <a:r>
              <a:rPr lang="en-IN" dirty="0"/>
              <a:t>       O.ORDER_STATUS</a:t>
            </a:r>
          </a:p>
          <a:p>
            <a:r>
              <a:rPr lang="en-IN" dirty="0"/>
              <a:t>FROM CUSTOMER C</a:t>
            </a:r>
          </a:p>
          <a:p>
            <a:r>
              <a:rPr lang="en-IN" dirty="0"/>
              <a:t>JOIN `ORDER` O</a:t>
            </a:r>
          </a:p>
          <a:p>
            <a:r>
              <a:rPr lang="en-IN" dirty="0"/>
              <a:t>ON C.CUSTOMER_ID = O.CUSTOMER_ID;</a:t>
            </a:r>
          </a:p>
        </p:txBody>
      </p:sp>
    </p:spTree>
    <p:extLst>
      <p:ext uri="{BB962C8B-B14F-4D97-AF65-F5344CB8AC3E}">
        <p14:creationId xmlns:p14="http://schemas.microsoft.com/office/powerpoint/2010/main" val="3618863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CC36BD-C070-5DD5-526A-05B903C22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66601" cy="849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58302-001A-A693-CB9D-0FC98B1F2611}"/>
              </a:ext>
            </a:extLst>
          </p:cNvPr>
          <p:cNvSpPr txBox="1"/>
          <p:nvPr/>
        </p:nvSpPr>
        <p:spPr>
          <a:xfrm>
            <a:off x="2993571" y="674914"/>
            <a:ext cx="54210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lang="en-IN" sz="3200" dirty="0"/>
              <a:t>Data Integrity and Validation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15F2F0-5286-1FAF-A251-78B731D0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272874"/>
              </p:ext>
            </p:extLst>
          </p:nvPr>
        </p:nvGraphicFramePr>
        <p:xfrm>
          <a:off x="468086" y="1259690"/>
          <a:ext cx="10929254" cy="5476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5791">
                  <a:extLst>
                    <a:ext uri="{9D8B030D-6E8A-4147-A177-3AD203B41FA5}">
                      <a16:colId xmlns:a16="http://schemas.microsoft.com/office/drawing/2014/main" val="3992705058"/>
                    </a:ext>
                  </a:extLst>
                </a:gridCol>
                <a:gridCol w="3635791">
                  <a:extLst>
                    <a:ext uri="{9D8B030D-6E8A-4147-A177-3AD203B41FA5}">
                      <a16:colId xmlns:a16="http://schemas.microsoft.com/office/drawing/2014/main" val="3143801612"/>
                    </a:ext>
                  </a:extLst>
                </a:gridCol>
                <a:gridCol w="3657672">
                  <a:extLst>
                    <a:ext uri="{9D8B030D-6E8A-4147-A177-3AD203B41FA5}">
                      <a16:colId xmlns:a16="http://schemas.microsoft.com/office/drawing/2014/main" val="3018023166"/>
                    </a:ext>
                  </a:extLst>
                </a:gridCol>
              </a:tblGrid>
              <a:tr h="651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Constraint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Purpose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Example in E-Commerce System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78306"/>
                  </a:ext>
                </a:extLst>
              </a:tr>
              <a:tr h="651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PRIMARY KEY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Uniquely identifies each record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CUSTOMER_ID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879507"/>
                  </a:ext>
                </a:extLst>
              </a:tr>
              <a:tr h="9301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FOREIGN KEY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Maintains relationship between tables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CUSTOMER_ID in ORDER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124785"/>
                  </a:ext>
                </a:extLst>
              </a:tr>
              <a:tr h="651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NULL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Prevents empty values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CUSTOMER_NAME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704894"/>
                  </a:ext>
                </a:extLst>
              </a:tr>
              <a:tr h="651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UNIQUE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Prevents duplicate values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Email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408031"/>
                  </a:ext>
                </a:extLst>
              </a:tr>
              <a:tr h="651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CHECK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Validates allowed values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Price &gt; 0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13125"/>
                  </a:ext>
                </a:extLst>
              </a:tr>
              <a:tr h="651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REFERENTIAL INTEGRITY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Ensures valid table relationships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CATEGORY_ID in PRODUCT</a:t>
                      </a:r>
                    </a:p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976386"/>
                  </a:ext>
                </a:extLst>
              </a:tr>
              <a:tr h="413242">
                <a:tc>
                  <a:txBody>
                    <a:bodyPr/>
                    <a:lstStyle/>
                    <a:p>
                      <a:r>
                        <a:rPr lang="en-IN" dirty="0"/>
                        <a:t>DATA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Maintains accurate and consistent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 price, quantity and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07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829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B3FFE-9447-51F4-16E3-AE2FD0F38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87966" cy="892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0A19B3-F921-53F4-9CC4-8B541FB512C1}"/>
              </a:ext>
            </a:extLst>
          </p:cNvPr>
          <p:cNvSpPr txBox="1"/>
          <p:nvPr/>
        </p:nvSpPr>
        <p:spPr>
          <a:xfrm>
            <a:off x="3189514" y="892629"/>
            <a:ext cx="5627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SQL Output and Screenshots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51C93-AAAB-3170-AC02-276321B5491F}"/>
              </a:ext>
            </a:extLst>
          </p:cNvPr>
          <p:cNvSpPr txBox="1"/>
          <p:nvPr/>
        </p:nvSpPr>
        <p:spPr>
          <a:xfrm>
            <a:off x="489857" y="1698171"/>
            <a:ext cx="86541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Show </a:t>
            </a:r>
            <a:r>
              <a:rPr lang="en-IN" sz="2400" b="1" dirty="0"/>
              <a:t>database and all seven table creation</a:t>
            </a:r>
            <a:r>
              <a:rPr lang="en-IN" sz="2400" dirty="0"/>
              <a:t> screenshots.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Show </a:t>
            </a:r>
            <a:r>
              <a:rPr lang="en-IN" sz="2400" b="1" dirty="0"/>
              <a:t>sample records inserted</a:t>
            </a:r>
            <a:r>
              <a:rPr lang="en-IN" sz="2400" dirty="0"/>
              <a:t> into CUSTOMER, CATEGORY, PRODUCT, ORDER, ORDER_ITEM, PAYMENT, and DELIVERY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Show important </a:t>
            </a:r>
            <a:r>
              <a:rPr lang="en-IN" sz="2400" b="1" dirty="0"/>
              <a:t>DDL, DML, and DQL query outputs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Include screenshots for </a:t>
            </a:r>
            <a:r>
              <a:rPr lang="en-IN" sz="2400" b="1" dirty="0"/>
              <a:t>Joins, Aggregate Functions, CRUD Operations, and Views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Show </a:t>
            </a:r>
            <a:r>
              <a:rPr lang="en-IN" sz="2400" b="1" dirty="0"/>
              <a:t>validation/error results</a:t>
            </a:r>
            <a:r>
              <a:rPr lang="en-IN" sz="2400" dirty="0"/>
              <a:t>, such as duplicate Primary Key or invalid Foreign Key.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Replace all documentation placeholders with </a:t>
            </a:r>
            <a:r>
              <a:rPr lang="en-IN" sz="2400" b="1" dirty="0"/>
              <a:t>actual SQL execution screenshots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16817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A5020-EFE6-4663-1C65-B11B957C2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366601" cy="849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3E3B34-7AA9-A25E-908B-5EFC98A2BEB3}"/>
              </a:ext>
            </a:extLst>
          </p:cNvPr>
          <p:cNvSpPr txBox="1"/>
          <p:nvPr/>
        </p:nvSpPr>
        <p:spPr>
          <a:xfrm>
            <a:off x="0" y="957943"/>
            <a:ext cx="25625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DDL – Create Tables: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41C81-BE76-FBC9-506F-52B0AB63A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8455"/>
            <a:ext cx="2731499" cy="11995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4CC943-FFC3-20FC-8832-AF5532CB8EE9}"/>
              </a:ext>
            </a:extLst>
          </p:cNvPr>
          <p:cNvSpPr txBox="1"/>
          <p:nvPr/>
        </p:nvSpPr>
        <p:spPr>
          <a:xfrm>
            <a:off x="87086" y="1358053"/>
            <a:ext cx="129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CUSTOMER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4F58A-2020-47B9-DEF6-9A624C4BA672}"/>
              </a:ext>
            </a:extLst>
          </p:cNvPr>
          <p:cNvSpPr txBox="1"/>
          <p:nvPr/>
        </p:nvSpPr>
        <p:spPr>
          <a:xfrm rot="10800000" flipV="1">
            <a:off x="146955" y="2917977"/>
            <a:ext cx="1295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CATEGORY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56E684-5ADA-F326-84E2-508B793CF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278379"/>
            <a:ext cx="2731499" cy="11784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486E146-825A-8165-5CFB-41E6A80C89B0}"/>
              </a:ext>
            </a:extLst>
          </p:cNvPr>
          <p:cNvSpPr txBox="1"/>
          <p:nvPr/>
        </p:nvSpPr>
        <p:spPr>
          <a:xfrm>
            <a:off x="87086" y="4468971"/>
            <a:ext cx="1268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4341AF-CD8B-531B-C554-255B1DAB3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" y="4850399"/>
            <a:ext cx="2731499" cy="18769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7C4650-27D4-F9AD-AEC3-39313653BB72}"/>
              </a:ext>
            </a:extLst>
          </p:cNvPr>
          <p:cNvSpPr txBox="1"/>
          <p:nvPr/>
        </p:nvSpPr>
        <p:spPr>
          <a:xfrm>
            <a:off x="3184072" y="1349123"/>
            <a:ext cx="919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2AA79E5-46C5-6405-36D1-BC80E70920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14" y="1718455"/>
            <a:ext cx="2639785" cy="11995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A45B8B1-146F-0829-0EB0-BD8DAC9A9349}"/>
              </a:ext>
            </a:extLst>
          </p:cNvPr>
          <p:cNvSpPr txBox="1"/>
          <p:nvPr/>
        </p:nvSpPr>
        <p:spPr>
          <a:xfrm>
            <a:off x="3075214" y="2917977"/>
            <a:ext cx="1475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ORDER_ITEM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63C80AD-0A95-5F48-74A6-EA7FD229DC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14" y="3329595"/>
            <a:ext cx="2639785" cy="112728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CEDC57C-049E-F065-50EC-ED1AA63B8F80}"/>
              </a:ext>
            </a:extLst>
          </p:cNvPr>
          <p:cNvSpPr txBox="1"/>
          <p:nvPr/>
        </p:nvSpPr>
        <p:spPr>
          <a:xfrm>
            <a:off x="3075214" y="4463626"/>
            <a:ext cx="1148443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PAYMENT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D74E0DA-F366-C858-9E77-5BC8C3C58D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14" y="4981029"/>
            <a:ext cx="2639785" cy="174634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411A739-0478-A588-0C0C-590E7AD8E42F}"/>
              </a:ext>
            </a:extLst>
          </p:cNvPr>
          <p:cNvSpPr txBox="1"/>
          <p:nvPr/>
        </p:nvSpPr>
        <p:spPr>
          <a:xfrm>
            <a:off x="5976255" y="1348417"/>
            <a:ext cx="108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DELIVERY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B8CE47B-6486-6325-5D65-122DD5D085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511" y="1664271"/>
            <a:ext cx="2413032" cy="119952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2575301-8417-4F04-A38F-55D2A7CD79D0}"/>
              </a:ext>
            </a:extLst>
          </p:cNvPr>
          <p:cNvSpPr txBox="1"/>
          <p:nvPr/>
        </p:nvSpPr>
        <p:spPr>
          <a:xfrm>
            <a:off x="6012510" y="2994981"/>
            <a:ext cx="2731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DML – INSERT Records: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D6F7C1-4D78-BC61-8F2A-3DF430B40A1B}"/>
              </a:ext>
            </a:extLst>
          </p:cNvPr>
          <p:cNvSpPr txBox="1"/>
          <p:nvPr/>
        </p:nvSpPr>
        <p:spPr>
          <a:xfrm>
            <a:off x="5958080" y="3341613"/>
            <a:ext cx="121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Customer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C7D0031-F14E-4D08-ECA1-375BD05182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665290"/>
            <a:ext cx="2481943" cy="10378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33E8BF9-98C6-B4EF-EB82-D9837B0DB3BF}"/>
              </a:ext>
            </a:extLst>
          </p:cNvPr>
          <p:cNvSpPr txBox="1"/>
          <p:nvPr/>
        </p:nvSpPr>
        <p:spPr>
          <a:xfrm>
            <a:off x="5978919" y="4703101"/>
            <a:ext cx="1205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Category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291A4AE-0F61-2419-980A-BD560573ED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920" y="5117560"/>
            <a:ext cx="2481944" cy="160980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CF2A66F-0D56-4B8B-4894-55D6400EF219}"/>
              </a:ext>
            </a:extLst>
          </p:cNvPr>
          <p:cNvSpPr txBox="1"/>
          <p:nvPr/>
        </p:nvSpPr>
        <p:spPr>
          <a:xfrm>
            <a:off x="8572501" y="1351147"/>
            <a:ext cx="1088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Product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52328A3-BD80-7FC0-659E-709BC0A382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109" y="1668150"/>
            <a:ext cx="3264068" cy="124982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C4C0C4C-3D0F-ABAE-6C77-4623E4116562}"/>
              </a:ext>
            </a:extLst>
          </p:cNvPr>
          <p:cNvSpPr txBox="1"/>
          <p:nvPr/>
        </p:nvSpPr>
        <p:spPr>
          <a:xfrm>
            <a:off x="8744009" y="3025759"/>
            <a:ext cx="862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34A1ED0-CD6B-BA38-8BE6-DE723C0CE45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144" y="3446660"/>
            <a:ext cx="3154074" cy="125644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E1D9D02-3C94-E3A4-9F6E-8EDBED850FE9}"/>
              </a:ext>
            </a:extLst>
          </p:cNvPr>
          <p:cNvSpPr txBox="1"/>
          <p:nvPr/>
        </p:nvSpPr>
        <p:spPr>
          <a:xfrm>
            <a:off x="8654144" y="4778221"/>
            <a:ext cx="131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 Item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08AD0EE-3BBB-F9A8-8240-C90E00AA49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009" y="5119339"/>
            <a:ext cx="3154074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11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476259-BB44-91E5-B57A-069CDC90C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33600" cy="7654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16A142-D3B2-AB27-2ECA-92A533CCC13E}"/>
              </a:ext>
            </a:extLst>
          </p:cNvPr>
          <p:cNvSpPr txBox="1"/>
          <p:nvPr/>
        </p:nvSpPr>
        <p:spPr>
          <a:xfrm>
            <a:off x="0" y="849086"/>
            <a:ext cx="1099457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Payment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141D2B-6CB3-101A-9304-569EB9D3F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3683"/>
            <a:ext cx="2830286" cy="12662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99AB37-3BDF-7F65-B8A7-FC544A89E4F5}"/>
              </a:ext>
            </a:extLst>
          </p:cNvPr>
          <p:cNvSpPr txBox="1"/>
          <p:nvPr/>
        </p:nvSpPr>
        <p:spPr>
          <a:xfrm>
            <a:off x="76200" y="2663512"/>
            <a:ext cx="1099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Delivery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41587A-EA92-8CA8-C3DA-8B3E0E7CA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50526"/>
            <a:ext cx="2754086" cy="15492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04DFF1-037F-4A4E-708B-776467A26A11}"/>
              </a:ext>
            </a:extLst>
          </p:cNvPr>
          <p:cNvSpPr txBox="1"/>
          <p:nvPr/>
        </p:nvSpPr>
        <p:spPr>
          <a:xfrm flipH="1">
            <a:off x="3461655" y="950233"/>
            <a:ext cx="3004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DQL – Data Retrieval: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84FAE0-507A-9A92-49BC-EC6920B7DD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855" y="1411898"/>
            <a:ext cx="2830286" cy="1494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60BCA4-AB6F-2118-4255-A94D023FBDEE}"/>
              </a:ext>
            </a:extLst>
          </p:cNvPr>
          <p:cNvSpPr txBox="1"/>
          <p:nvPr/>
        </p:nvSpPr>
        <p:spPr>
          <a:xfrm>
            <a:off x="3461655" y="3032844"/>
            <a:ext cx="1047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OUTPUT:</a:t>
            </a:r>
            <a:endParaRPr lang="en-IN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877921-6125-7021-5187-6354910EA3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626" y="3368151"/>
            <a:ext cx="3113316" cy="123163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593BBE-10FF-2344-E69B-4C285BDF25C9}"/>
              </a:ext>
            </a:extLst>
          </p:cNvPr>
          <p:cNvSpPr txBox="1"/>
          <p:nvPr/>
        </p:nvSpPr>
        <p:spPr>
          <a:xfrm>
            <a:off x="76200" y="4678072"/>
            <a:ext cx="1099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8293FB1-4757-04ED-3CCA-83F7B1922C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1" y="5047404"/>
            <a:ext cx="2133600" cy="17649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F1B222C-7B21-06D1-1D5D-34DAA49FE443}"/>
              </a:ext>
            </a:extLst>
          </p:cNvPr>
          <p:cNvSpPr txBox="1"/>
          <p:nvPr/>
        </p:nvSpPr>
        <p:spPr>
          <a:xfrm>
            <a:off x="3461655" y="4599787"/>
            <a:ext cx="1317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 BY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B146655-D7FD-CDCA-F3EF-E75C2050F8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56" y="4935094"/>
            <a:ext cx="3113316" cy="18765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612CA6B-7020-D814-FCBC-8476E8C6D87E}"/>
              </a:ext>
            </a:extLst>
          </p:cNvPr>
          <p:cNvSpPr txBox="1"/>
          <p:nvPr/>
        </p:nvSpPr>
        <p:spPr>
          <a:xfrm>
            <a:off x="6777681" y="137174"/>
            <a:ext cx="1223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DISTINCT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761BECB-4186-9BC5-A363-3007E427EE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199" y="506506"/>
            <a:ext cx="2033643" cy="163798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A7B1DD6-6A0F-54B1-E27D-3092BCE1AC3B}"/>
              </a:ext>
            </a:extLst>
          </p:cNvPr>
          <p:cNvSpPr txBox="1"/>
          <p:nvPr/>
        </p:nvSpPr>
        <p:spPr>
          <a:xfrm>
            <a:off x="6840199" y="2014794"/>
            <a:ext cx="683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LIKE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866BA05-D739-229A-877A-0A12036A85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39" y="2291842"/>
            <a:ext cx="2177143" cy="113308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F477EDE-FDD7-357E-FC68-69A30FB07CAB}"/>
              </a:ext>
            </a:extLst>
          </p:cNvPr>
          <p:cNvSpPr txBox="1"/>
          <p:nvPr/>
        </p:nvSpPr>
        <p:spPr>
          <a:xfrm>
            <a:off x="6716816" y="3365020"/>
            <a:ext cx="1447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IS NOT NULL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FF6884B-1CCC-E05F-D387-FE631C36F9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780" y="3674739"/>
            <a:ext cx="2297548" cy="153552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0C35518-A660-C075-11EB-767E2EBC80C4}"/>
              </a:ext>
            </a:extLst>
          </p:cNvPr>
          <p:cNvSpPr txBox="1"/>
          <p:nvPr/>
        </p:nvSpPr>
        <p:spPr>
          <a:xfrm rot="10800000" flipV="1">
            <a:off x="6606966" y="5060361"/>
            <a:ext cx="2297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SQL Queries – Joins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70AB04-6494-9EA6-B8EC-EF90DB7135C8}"/>
              </a:ext>
            </a:extLst>
          </p:cNvPr>
          <p:cNvSpPr txBox="1"/>
          <p:nvPr/>
        </p:nvSpPr>
        <p:spPr>
          <a:xfrm>
            <a:off x="6672942" y="5356310"/>
            <a:ext cx="2046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Customer + Order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557D47E-039D-0EF3-6FB4-DB4A2EADF1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816" y="5827376"/>
            <a:ext cx="2297549" cy="89345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1116F96-8C5B-349A-71F5-D93209A4351A}"/>
              </a:ext>
            </a:extLst>
          </p:cNvPr>
          <p:cNvSpPr txBox="1"/>
          <p:nvPr/>
        </p:nvSpPr>
        <p:spPr>
          <a:xfrm>
            <a:off x="8904514" y="137174"/>
            <a:ext cx="2159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Product + Category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4BA4DFE-0DE6-9505-689A-75125F2F58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318" y="546763"/>
            <a:ext cx="2895749" cy="81164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8D17511-757C-0A34-A780-692D332560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513" y="1446949"/>
            <a:ext cx="3013358" cy="81164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C0CD0D1-7FFB-FA08-06AA-4003CCC6EF30}"/>
              </a:ext>
            </a:extLst>
          </p:cNvPr>
          <p:cNvSpPr txBox="1"/>
          <p:nvPr/>
        </p:nvSpPr>
        <p:spPr>
          <a:xfrm>
            <a:off x="8935184" y="2194407"/>
            <a:ext cx="301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 + Order Item + Product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A90A767-83C3-5DDE-CCD0-6004D29935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492" y="2529560"/>
            <a:ext cx="2768742" cy="104193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E63C9DD-106D-BE1D-8665-120AE2707B6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492" y="3614290"/>
            <a:ext cx="3010055" cy="728092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47E4ED4-0410-CC72-930C-41CD20043398}"/>
              </a:ext>
            </a:extLst>
          </p:cNvPr>
          <p:cNvSpPr txBox="1"/>
          <p:nvPr/>
        </p:nvSpPr>
        <p:spPr>
          <a:xfrm>
            <a:off x="8941875" y="4322642"/>
            <a:ext cx="301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Order + Payment + Delivery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F661CA8-73BB-4A8C-5F7A-83E27AC90B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382" y="4590541"/>
            <a:ext cx="3023100" cy="137366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534CAE8-49B9-CC00-E405-27DF53AFDB3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492" y="5964203"/>
            <a:ext cx="3058307" cy="8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60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BDE56E-2A66-1D18-19A6-8AF09F9F4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035629" cy="730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1A3ADE-FEBE-A5E0-E4B0-26EF82451F10}"/>
              </a:ext>
            </a:extLst>
          </p:cNvPr>
          <p:cNvSpPr txBox="1"/>
          <p:nvPr/>
        </p:nvSpPr>
        <p:spPr>
          <a:xfrm>
            <a:off x="76200" y="730340"/>
            <a:ext cx="247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Aggregate Functions: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C80A5-406F-BC0F-F451-5F4EB710B9A9}"/>
              </a:ext>
            </a:extLst>
          </p:cNvPr>
          <p:cNvSpPr txBox="1"/>
          <p:nvPr/>
        </p:nvSpPr>
        <p:spPr>
          <a:xfrm>
            <a:off x="43544" y="1075959"/>
            <a:ext cx="1088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COUNT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E30C79-81C0-344E-D220-4F3519ABC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60680"/>
            <a:ext cx="2188029" cy="1472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522F8A-28DF-8BC2-149A-1BA413FC951E}"/>
              </a:ext>
            </a:extLst>
          </p:cNvPr>
          <p:cNvSpPr txBox="1"/>
          <p:nvPr/>
        </p:nvSpPr>
        <p:spPr>
          <a:xfrm>
            <a:off x="76200" y="2902702"/>
            <a:ext cx="653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5AFD41-1DB2-B142-E087-6ABE24F35E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2813"/>
            <a:ext cx="2264230" cy="1472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EE7A96-9BDC-F3BC-BFA8-0EF4AEF10CFA}"/>
              </a:ext>
            </a:extLst>
          </p:cNvPr>
          <p:cNvSpPr txBox="1"/>
          <p:nvPr/>
        </p:nvSpPr>
        <p:spPr>
          <a:xfrm>
            <a:off x="-5442" y="4799948"/>
            <a:ext cx="615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AVG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B244C1-498A-5986-0CC3-5ACF61932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4" y="5169281"/>
            <a:ext cx="2394856" cy="16510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6C64138-9269-6268-E2AA-D3AA18F6A47D}"/>
              </a:ext>
            </a:extLst>
          </p:cNvPr>
          <p:cNvSpPr txBox="1"/>
          <p:nvPr/>
        </p:nvSpPr>
        <p:spPr>
          <a:xfrm>
            <a:off x="2560864" y="44342"/>
            <a:ext cx="781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MAX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BF9BDB-8E3C-6D13-246C-B9C353F7BE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880" y="365170"/>
            <a:ext cx="2035629" cy="10955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5526E1-D3E1-5377-580A-708FCEA0F1F0}"/>
              </a:ext>
            </a:extLst>
          </p:cNvPr>
          <p:cNvSpPr txBox="1"/>
          <p:nvPr/>
        </p:nvSpPr>
        <p:spPr>
          <a:xfrm>
            <a:off x="2462893" y="1493124"/>
            <a:ext cx="87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MIN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CEEAD1B-B0FB-098C-D8E8-080D702B18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172" y="1799235"/>
            <a:ext cx="2131889" cy="114267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24CEE57-44E0-A694-9687-57057DE43882}"/>
              </a:ext>
            </a:extLst>
          </p:cNvPr>
          <p:cNvSpPr txBox="1"/>
          <p:nvPr/>
        </p:nvSpPr>
        <p:spPr>
          <a:xfrm>
            <a:off x="2438400" y="2941906"/>
            <a:ext cx="1347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GROUP BY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06C7F8-6FE9-65E8-D86E-069073F0BD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723" y="3322593"/>
            <a:ext cx="2131889" cy="12820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78637AA-E098-D123-50B9-B8EA51CBA77A}"/>
              </a:ext>
            </a:extLst>
          </p:cNvPr>
          <p:cNvSpPr txBox="1"/>
          <p:nvPr/>
        </p:nvSpPr>
        <p:spPr>
          <a:xfrm>
            <a:off x="2473779" y="4731140"/>
            <a:ext cx="1129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HAVING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3B28DCF-BE08-610D-7C45-1D3C5D2D17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880" y="5174345"/>
            <a:ext cx="2052733" cy="153125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8F20853-94AA-2BB1-A83C-1FC6318422BC}"/>
              </a:ext>
            </a:extLst>
          </p:cNvPr>
          <p:cNvSpPr txBox="1"/>
          <p:nvPr/>
        </p:nvSpPr>
        <p:spPr>
          <a:xfrm>
            <a:off x="4706989" y="39789"/>
            <a:ext cx="61232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CRUD Operations: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896422-6824-7E64-D126-4F4CB796A459}"/>
              </a:ext>
            </a:extLst>
          </p:cNvPr>
          <p:cNvSpPr txBox="1"/>
          <p:nvPr/>
        </p:nvSpPr>
        <p:spPr>
          <a:xfrm>
            <a:off x="4823469" y="439899"/>
            <a:ext cx="1132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CREATE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BE99B47-6FA7-B25F-000A-44635CF1BD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990" y="851029"/>
            <a:ext cx="2444924" cy="94820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D16C850-F669-E675-E627-8827FB330B00}"/>
              </a:ext>
            </a:extLst>
          </p:cNvPr>
          <p:cNvSpPr txBox="1"/>
          <p:nvPr/>
        </p:nvSpPr>
        <p:spPr>
          <a:xfrm>
            <a:off x="4706989" y="1862456"/>
            <a:ext cx="812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READ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97A3DF9-57E2-77F1-8817-F34ED48AE8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105" y="2210366"/>
            <a:ext cx="2444924" cy="165528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09FA69F-6655-A981-127B-287416FCCCA8}"/>
              </a:ext>
            </a:extLst>
          </p:cNvPr>
          <p:cNvSpPr txBox="1"/>
          <p:nvPr/>
        </p:nvSpPr>
        <p:spPr>
          <a:xfrm>
            <a:off x="4798810" y="3973900"/>
            <a:ext cx="972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UPDATE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E0B5E2F-F4DE-09D2-C76A-B473BF565B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989" y="4298201"/>
            <a:ext cx="2557040" cy="119075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CF51025-B11E-C93F-29B7-6F7E22F846D1}"/>
              </a:ext>
            </a:extLst>
          </p:cNvPr>
          <p:cNvSpPr txBox="1"/>
          <p:nvPr/>
        </p:nvSpPr>
        <p:spPr>
          <a:xfrm>
            <a:off x="4798810" y="5499839"/>
            <a:ext cx="1012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DELETE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1DFCBE8-0CE7-E140-F891-11C36BE0E0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446" y="5880057"/>
            <a:ext cx="2292468" cy="825543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D388022-AC6D-00A9-9DB6-1F6D3146D662}"/>
              </a:ext>
            </a:extLst>
          </p:cNvPr>
          <p:cNvSpPr txBox="1"/>
          <p:nvPr/>
        </p:nvSpPr>
        <p:spPr>
          <a:xfrm>
            <a:off x="7261870" y="28903"/>
            <a:ext cx="906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View: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737796A-1FC6-7834-2258-231A7C68C4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716" y="429014"/>
            <a:ext cx="1947141" cy="198761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59A9F11-3013-9FEB-83EF-B989E99B270E}"/>
              </a:ext>
            </a:extLst>
          </p:cNvPr>
          <p:cNvSpPr txBox="1"/>
          <p:nvPr/>
        </p:nvSpPr>
        <p:spPr>
          <a:xfrm>
            <a:off x="9369879" y="28902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Display View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46AECDD3-6487-189B-BB45-E63A0AA274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659" y="398234"/>
            <a:ext cx="2559853" cy="201839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A645235-D8C6-2845-EECF-1A56B7D45E9B}"/>
              </a:ext>
            </a:extLst>
          </p:cNvPr>
          <p:cNvSpPr txBox="1"/>
          <p:nvPr/>
        </p:nvSpPr>
        <p:spPr>
          <a:xfrm>
            <a:off x="7344890" y="2436524"/>
            <a:ext cx="3116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Integrity / Validation: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1AB070-A818-16B2-DE17-17DCC50D5533}"/>
              </a:ext>
            </a:extLst>
          </p:cNvPr>
          <p:cNvSpPr txBox="1"/>
          <p:nvPr/>
        </p:nvSpPr>
        <p:spPr>
          <a:xfrm>
            <a:off x="7416425" y="2757240"/>
            <a:ext cx="277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Duplicate Primary Key Test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18C6B83D-CF35-501D-E637-3B7AE663A2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35" y="3157351"/>
            <a:ext cx="4701165" cy="70829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6397D15-7AEC-F0A8-46E9-7CF38906E64F}"/>
              </a:ext>
            </a:extLst>
          </p:cNvPr>
          <p:cNvSpPr txBox="1"/>
          <p:nvPr/>
        </p:nvSpPr>
        <p:spPr>
          <a:xfrm>
            <a:off x="7344890" y="3868628"/>
            <a:ext cx="255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Invalid Foreign Key Test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C8073383-9D4C-0B8C-6370-20DF8D7707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890" y="4222776"/>
            <a:ext cx="4813354" cy="87769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CC9CDE59-78C5-EA90-DE9B-B1BAF94B4934}"/>
              </a:ext>
            </a:extLst>
          </p:cNvPr>
          <p:cNvSpPr txBox="1"/>
          <p:nvPr/>
        </p:nvSpPr>
        <p:spPr>
          <a:xfrm>
            <a:off x="7363405" y="5100472"/>
            <a:ext cx="2169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CHECK Constraint Test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053CB21E-4DB4-AD33-93DC-0503D0B0663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616" y="5695285"/>
            <a:ext cx="2311002" cy="106948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B4614DF-B1ED-92EE-BB4C-467F03A9CA2B}"/>
              </a:ext>
            </a:extLst>
          </p:cNvPr>
          <p:cNvSpPr txBox="1"/>
          <p:nvPr/>
        </p:nvSpPr>
        <p:spPr>
          <a:xfrm>
            <a:off x="9532618" y="5071510"/>
            <a:ext cx="1551912" cy="38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ALTER TABLE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C5DDE805-4E5F-81B1-551B-5573EBD9CE1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787" y="5416240"/>
            <a:ext cx="2340457" cy="134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87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0084AD-2264-3281-B60F-0C730126C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002507" cy="71845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F6F38E-6421-6759-6A3B-336E4A334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179911"/>
              </p:ext>
            </p:extLst>
          </p:nvPr>
        </p:nvGraphicFramePr>
        <p:xfrm>
          <a:off x="446313" y="1338944"/>
          <a:ext cx="11244944" cy="5308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7030">
                  <a:extLst>
                    <a:ext uri="{9D8B030D-6E8A-4147-A177-3AD203B41FA5}">
                      <a16:colId xmlns:a16="http://schemas.microsoft.com/office/drawing/2014/main" val="2792094949"/>
                    </a:ext>
                  </a:extLst>
                </a:gridCol>
                <a:gridCol w="5627914">
                  <a:extLst>
                    <a:ext uri="{9D8B030D-6E8A-4147-A177-3AD203B41FA5}">
                      <a16:colId xmlns:a16="http://schemas.microsoft.com/office/drawing/2014/main" val="208440201"/>
                    </a:ext>
                  </a:extLst>
                </a:gridCol>
              </a:tblGrid>
              <a:tr h="558193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899390"/>
                  </a:ext>
                </a:extLst>
              </a:tr>
              <a:tr h="626923">
                <a:tc>
                  <a:txBody>
                    <a:bodyPr/>
                    <a:lstStyle/>
                    <a:p>
                      <a:r>
                        <a:rPr lang="en-IN" dirty="0"/>
                        <a:t>Basic 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3–5 queries on CUSTOMER, PRODUCT, ORDER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692166"/>
                  </a:ext>
                </a:extLst>
              </a:tr>
              <a:tr h="626923">
                <a:tc>
                  <a:txBody>
                    <a:bodyPr/>
                    <a:lstStyle/>
                    <a:p>
                      <a:r>
                        <a:rPr lang="en-IN" dirty="0"/>
                        <a:t>Filtering / Sorting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3–5 queries using WHERE, LIKE, ORDER BY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228996"/>
                  </a:ext>
                </a:extLst>
              </a:tr>
              <a:tr h="565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Joins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5+ meaningful multi-table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587054"/>
                  </a:ext>
                </a:extLst>
              </a:tr>
              <a:tr h="565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Aggregation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5+ COUNT, AVG, MIN, MAX, SUM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937621"/>
                  </a:ext>
                </a:extLst>
              </a:tr>
              <a:tr h="565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GROUP BY / HAVING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2–3 queries for order/category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760095"/>
                  </a:ext>
                </a:extLst>
              </a:tr>
              <a:tr h="626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 least one example for INSERT, SELECT, UPDATE and 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03497"/>
                  </a:ext>
                </a:extLst>
              </a:tr>
              <a:tr h="565945">
                <a:tc>
                  <a:txBody>
                    <a:bodyPr/>
                    <a:lstStyle/>
                    <a:p>
                      <a:r>
                        <a:rPr lang="en-IN" dirty="0"/>
                        <a:t>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1–2 meaningful views for order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29897"/>
                  </a:ext>
                </a:extLst>
              </a:tr>
              <a:tr h="565945">
                <a:tc>
                  <a:txBody>
                    <a:bodyPr/>
                    <a:lstStyle/>
                    <a:p>
                      <a:r>
                        <a:rPr lang="en-IN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 least 2 constraint demonstrations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5385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BFE71D-BFB6-30DE-E3E5-5A1FC0E8B3C9}"/>
              </a:ext>
            </a:extLst>
          </p:cNvPr>
          <p:cNvSpPr txBox="1"/>
          <p:nvPr/>
        </p:nvSpPr>
        <p:spPr>
          <a:xfrm>
            <a:off x="3211286" y="569229"/>
            <a:ext cx="6487886" cy="584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Query Coverage for Demonstration</a:t>
            </a:r>
          </a:p>
        </p:txBody>
      </p:sp>
    </p:spTree>
    <p:extLst>
      <p:ext uri="{BB962C8B-B14F-4D97-AF65-F5344CB8AC3E}">
        <p14:creationId xmlns:p14="http://schemas.microsoft.com/office/powerpoint/2010/main" val="729513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4D32E-7A98-F1B8-D87C-98A70CB60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154213" cy="7728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06F92A-C9CE-A463-4741-E13950D23E8F}"/>
              </a:ext>
            </a:extLst>
          </p:cNvPr>
          <p:cNvSpPr txBox="1"/>
          <p:nvPr/>
        </p:nvSpPr>
        <p:spPr>
          <a:xfrm>
            <a:off x="1370442" y="772886"/>
            <a:ext cx="9275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Live Database Demonstration – Recommended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0CCE8-5C74-71C7-5672-E0AAAE18D486}"/>
              </a:ext>
            </a:extLst>
          </p:cNvPr>
          <p:cNvSpPr txBox="1"/>
          <p:nvPr/>
        </p:nvSpPr>
        <p:spPr>
          <a:xfrm>
            <a:off x="413657" y="1545772"/>
            <a:ext cx="111578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Open the </a:t>
            </a:r>
            <a:r>
              <a:rPr lang="en-IN" sz="2400" b="1" dirty="0"/>
              <a:t>E-Commerce database/schema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Show the </a:t>
            </a:r>
            <a:r>
              <a:rPr lang="en-IN" sz="2400" b="1" dirty="0"/>
              <a:t>7 tables and their relationships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Show </a:t>
            </a:r>
            <a:r>
              <a:rPr lang="en-IN" sz="2400" b="1" dirty="0"/>
              <a:t>table structures and constraints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Display the </a:t>
            </a:r>
            <a:r>
              <a:rPr lang="en-IN" sz="2400" b="1" dirty="0"/>
              <a:t>inserted sample data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Demonstrate </a:t>
            </a:r>
            <a:r>
              <a:rPr lang="en-IN" sz="2400" b="1" dirty="0"/>
              <a:t>DDL, DML, and DQL</a:t>
            </a:r>
            <a:r>
              <a:rPr lang="en-IN" sz="2400" dirty="0"/>
              <a:t> queries.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Demonstrate </a:t>
            </a:r>
            <a:r>
              <a:rPr lang="en-IN" sz="2400" b="1" dirty="0"/>
              <a:t>CRUD operations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Run </a:t>
            </a:r>
            <a:r>
              <a:rPr lang="en-IN" sz="2400" b="1" dirty="0"/>
              <a:t>JOIN and Aggregate Function</a:t>
            </a:r>
            <a:r>
              <a:rPr lang="en-IN" sz="2400" dirty="0"/>
              <a:t> queries.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Demonstrate the </a:t>
            </a:r>
            <a:r>
              <a:rPr lang="en-IN" sz="2400" b="1" dirty="0"/>
              <a:t>Order Details View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Demonstrate </a:t>
            </a:r>
            <a:r>
              <a:rPr lang="en-IN" sz="2400" b="1" dirty="0"/>
              <a:t>data validation and integrity constraints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Explain </a:t>
            </a:r>
            <a:r>
              <a:rPr lang="en-IN" sz="2400" b="1" dirty="0"/>
              <a:t>normalization up to 3NF</a:t>
            </a:r>
            <a:r>
              <a:rPr lang="en-IN" sz="2400" dirty="0"/>
              <a:t> and answer questions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406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29C9A-E647-003A-A613-87D49DEA6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" y="0"/>
            <a:ext cx="1887807" cy="832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D5B3C3-FFF0-2105-10A4-5DD3CA0CC6A4}"/>
              </a:ext>
            </a:extLst>
          </p:cNvPr>
          <p:cNvSpPr txBox="1"/>
          <p:nvPr/>
        </p:nvSpPr>
        <p:spPr>
          <a:xfrm>
            <a:off x="4267200" y="724245"/>
            <a:ext cx="2383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6EE24-4134-DA3B-F2DC-B00DC6E58971}"/>
              </a:ext>
            </a:extLst>
          </p:cNvPr>
          <p:cNvSpPr txBox="1"/>
          <p:nvPr/>
        </p:nvSpPr>
        <p:spPr>
          <a:xfrm>
            <a:off x="609599" y="1730829"/>
            <a:ext cx="110054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implemented database follows the design developed for the </a:t>
            </a:r>
            <a:r>
              <a:rPr lang="en-IN" sz="2400" b="1" dirty="0"/>
              <a:t>E-Commerce Order Management System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seven related tables</a:t>
            </a:r>
            <a:r>
              <a:rPr lang="en-IN" sz="2400" dirty="0"/>
              <a:t> organize customers, categories, products, orders, order items, payments, and deliveries.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Constraints and normalization up to 3NF</a:t>
            </a:r>
            <a:r>
              <a:rPr lang="en-IN" sz="2400" dirty="0"/>
              <a:t> support data integrity and reduce redundancy.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SQL operations demonstrate </a:t>
            </a:r>
            <a:r>
              <a:rPr lang="en-IN" sz="2400" b="1" dirty="0"/>
              <a:t>creation, modification, retrieval, CRUD, joins, aggregation, and views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database provides a foundation for efficient </a:t>
            </a:r>
            <a:r>
              <a:rPr lang="en-IN" sz="2400" b="1" dirty="0"/>
              <a:t>order, payment, and delivery management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3720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382E2-7F50-23E0-23CE-67E8AE0F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25816-5C0E-ED2B-DF56-17CAA3B1D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" y="0"/>
            <a:ext cx="1887807" cy="832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DEF183-2D74-FCBC-4528-FF407B619010}"/>
              </a:ext>
            </a:extLst>
          </p:cNvPr>
          <p:cNvSpPr txBox="1"/>
          <p:nvPr/>
        </p:nvSpPr>
        <p:spPr>
          <a:xfrm>
            <a:off x="3145971" y="1072588"/>
            <a:ext cx="4484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Future Enhancements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EC74C-3BEA-43AF-3663-B542BC221845}"/>
              </a:ext>
            </a:extLst>
          </p:cNvPr>
          <p:cNvSpPr txBox="1"/>
          <p:nvPr/>
        </p:nvSpPr>
        <p:spPr>
          <a:xfrm>
            <a:off x="478971" y="2427514"/>
            <a:ext cx="102978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Role-based access</a:t>
            </a:r>
            <a:r>
              <a:rPr lang="en-IN" sz="2400" dirty="0"/>
              <a:t> for administrators, customers, and authorized users.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Product inventory and stock management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Online payment gateway integration</a:t>
            </a:r>
            <a:r>
              <a:rPr lang="en-IN" sz="2400" dirty="0"/>
              <a:t> and payment tracking.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Real-time order and delivery tracking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Automated sales reports and analytics dashboards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Backup, recovery, audit logging, and stronger database security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Web or mobile application interface</a:t>
            </a:r>
            <a:r>
              <a:rPr lang="en-IN" sz="2400" dirty="0"/>
              <a:t> for customers and administrators. </a:t>
            </a:r>
          </a:p>
        </p:txBody>
      </p:sp>
    </p:spTree>
    <p:extLst>
      <p:ext uri="{BB962C8B-B14F-4D97-AF65-F5344CB8AC3E}">
        <p14:creationId xmlns:p14="http://schemas.microsoft.com/office/powerpoint/2010/main" val="2944858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2ABE-0675-BF46-67C5-4EF91719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B6BE1-E435-5F0C-621C-7ED7EC3EB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" y="0"/>
            <a:ext cx="1887807" cy="832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6C3BAB-6E3D-91E1-1EF7-7F463AFD0FC6}"/>
              </a:ext>
            </a:extLst>
          </p:cNvPr>
          <p:cNvSpPr txBox="1"/>
          <p:nvPr/>
        </p:nvSpPr>
        <p:spPr>
          <a:xfrm>
            <a:off x="3145971" y="1072588"/>
            <a:ext cx="44849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CBE7A-D674-5DE6-3835-AE5039C5CC51}"/>
              </a:ext>
            </a:extLst>
          </p:cNvPr>
          <p:cNvSpPr txBox="1"/>
          <p:nvPr/>
        </p:nvSpPr>
        <p:spPr>
          <a:xfrm>
            <a:off x="892629" y="2170837"/>
            <a:ext cx="90351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Korth, H. F., Silberschatz, A., and Sudarshan, S., </a:t>
            </a:r>
            <a:r>
              <a:rPr lang="en-IN" sz="2400" i="1" dirty="0"/>
              <a:t>Database System Concepts</a:t>
            </a:r>
            <a:r>
              <a:rPr lang="en-IN" sz="2400" dirty="0"/>
              <a:t>, McGraw Hill.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Elmasri, R. and Navathe, R., </a:t>
            </a:r>
            <a:r>
              <a:rPr lang="en-IN" sz="2400" i="1" dirty="0"/>
              <a:t>Fundamentals of Database Systems</a:t>
            </a:r>
            <a:r>
              <a:rPr lang="en-IN" sz="2400" dirty="0"/>
              <a:t>, Pearson.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Course lecture notes, laboratory exercises, and approved </a:t>
            </a:r>
            <a:r>
              <a:rPr lang="en-IN" sz="2400" b="1" dirty="0"/>
              <a:t>DBMS learning resources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99754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903B-C994-FCED-E325-8B16032E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967C94-CE39-B8D7-2276-005DC7F1A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" y="0"/>
            <a:ext cx="1887807" cy="832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B5AD1C-19FB-7362-7EEC-0E2AF34A738F}"/>
              </a:ext>
            </a:extLst>
          </p:cNvPr>
          <p:cNvSpPr txBox="1"/>
          <p:nvPr/>
        </p:nvSpPr>
        <p:spPr>
          <a:xfrm>
            <a:off x="3102427" y="532278"/>
            <a:ext cx="5323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Final Review Checklist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F79864-CE00-9942-DE00-54514C485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311660"/>
              </p:ext>
            </p:extLst>
          </p:nvPr>
        </p:nvGraphicFramePr>
        <p:xfrm>
          <a:off x="674913" y="1295400"/>
          <a:ext cx="10787744" cy="5389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3872">
                  <a:extLst>
                    <a:ext uri="{9D8B030D-6E8A-4147-A177-3AD203B41FA5}">
                      <a16:colId xmlns:a16="http://schemas.microsoft.com/office/drawing/2014/main" val="208494970"/>
                    </a:ext>
                  </a:extLst>
                </a:gridCol>
                <a:gridCol w="5393872">
                  <a:extLst>
                    <a:ext uri="{9D8B030D-6E8A-4147-A177-3AD203B41FA5}">
                      <a16:colId xmlns:a16="http://schemas.microsoft.com/office/drawing/2014/main" val="850218465"/>
                    </a:ext>
                  </a:extLst>
                </a:gridCol>
              </a:tblGrid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Review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students must demonstrate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768126"/>
                  </a:ext>
                </a:extLst>
              </a:tr>
              <a:tr h="628149">
                <a:tc>
                  <a:txBody>
                    <a:bodyPr/>
                    <a:lstStyle/>
                    <a:p>
                      <a:r>
                        <a:rPr lang="en-IN" dirty="0"/>
                        <a:t>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Title, problem, objectives, ER diagram, relational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775647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 and all 7 project tables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351307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PK, FK, NOT NULL, UNIQUE, CHECK /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35229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Sample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tables populated with valid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40694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DDL, DML, DQL demonstrated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90248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Create, Read, Update, Delete demonstrated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972407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Joins, aggregates, GROUP BY / HAVING, 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281623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UNF → 1NF → 2NF → 3NF explained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458952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Duplicate IDs, invalid references, invalid values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573991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ER diagram, schema, SQL outputs and screenshots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408962"/>
                  </a:ext>
                </a:extLst>
              </a:tr>
              <a:tr h="431763">
                <a:tc>
                  <a:txBody>
                    <a:bodyPr/>
                    <a:lstStyle/>
                    <a:p>
                      <a:r>
                        <a:rPr lang="en-IN" dirty="0"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Working database demonstrated live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53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30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2344</Words>
  <Application>Microsoft Office PowerPoint</Application>
  <PresentationFormat>Widescreen</PresentationFormat>
  <Paragraphs>400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 Display</vt:lpstr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Geddam Kesava krishna sri anvitha</dc:creator>
  <cp:lastModifiedBy>Geddam Kesava krishna sri anvitha</cp:lastModifiedBy>
  <cp:revision>3</cp:revision>
  <dcterms:created xsi:type="dcterms:W3CDTF">2026-09-29T09:44:34Z</dcterms:created>
  <dcterms:modified xsi:type="dcterms:W3CDTF">2026-09-30T18:19:52Z</dcterms:modified>
</cp:coreProperties>
</file>